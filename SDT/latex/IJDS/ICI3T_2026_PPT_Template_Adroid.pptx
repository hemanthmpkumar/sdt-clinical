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8" r:id="rId3"/>
    <p:sldId id="266" r:id="rId4"/>
    <p:sldId id="259" r:id="rId5"/>
    <p:sldId id="260" r:id="rId6"/>
    <p:sldId id="261" r:id="rId7"/>
    <p:sldId id="262" r:id="rId8"/>
    <p:sldId id="263" r:id="rId9"/>
    <p:sldId id="267"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114" d="100"/>
          <a:sy n="114" d="100"/>
        </p:scale>
        <p:origin x="51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FFC48A-40A8-4815-BA95-23178E6D29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a:extLst>
              <a:ext uri="{FF2B5EF4-FFF2-40B4-BE49-F238E27FC236}">
                <a16:creationId xmlns:a16="http://schemas.microsoft.com/office/drawing/2014/main" id="{030C60B8-AC82-45A9-82DA-49E3C3D8F3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2AD30-3EB1-44F3-99FC-CA174BE79D9D}" type="datetimeFigureOut">
              <a:rPr lang="en-IN" smtClean="0"/>
              <a:t>02/10/26</a:t>
            </a:fld>
            <a:endParaRPr lang="en-IN"/>
          </a:p>
        </p:txBody>
      </p:sp>
      <p:sp>
        <p:nvSpPr>
          <p:cNvPr id="4" name="Footer Placeholder 3">
            <a:extLst>
              <a:ext uri="{FF2B5EF4-FFF2-40B4-BE49-F238E27FC236}">
                <a16:creationId xmlns:a16="http://schemas.microsoft.com/office/drawing/2014/main" id="{4B0A9232-31CD-406D-82AE-EA68BC6064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3C2C502-FE3D-48CE-962A-D0C5905217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54DA78-81CE-4CDA-BCDF-F9A71A5A3A2B}" type="slidenum">
              <a:rPr lang="en-IN" smtClean="0"/>
              <a:t>‹#›</a:t>
            </a:fld>
            <a:endParaRPr lang="en-IN"/>
          </a:p>
        </p:txBody>
      </p:sp>
    </p:spTree>
    <p:extLst>
      <p:ext uri="{BB962C8B-B14F-4D97-AF65-F5344CB8AC3E}">
        <p14:creationId xmlns:p14="http://schemas.microsoft.com/office/powerpoint/2010/main" val="1579651629"/>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518E6E-0D61-4A63-AE58-B654B59B306F}" type="datetimeFigureOut">
              <a:rPr lang="en-IN" smtClean="0"/>
              <a:t>02/10/26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1FFA8-44D0-41D2-B252-050984594A0C}" type="slidenum">
              <a:rPr lang="en-IN" smtClean="0"/>
              <a:t>‹#›</a:t>
            </a:fld>
            <a:endParaRPr lang="en-IN"/>
          </a:p>
        </p:txBody>
      </p:sp>
    </p:spTree>
    <p:extLst>
      <p:ext uri="{BB962C8B-B14F-4D97-AF65-F5344CB8AC3E}">
        <p14:creationId xmlns:p14="http://schemas.microsoft.com/office/powerpoint/2010/main" val="382749563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0:00 - 0:45 | ~45 sec]</a:t>
            </a:r>
          </a:p>
          <a:p>
            <a:r>
              <a:t>ORAL PRESENTATION SCRIPT:</a:t>
            </a:r>
          </a:p>
          <a:p>
            <a:r>
              <a:t>"Good morning session chairs and colleagues. My name is Hemanth Manchabale Papachappa from Stanford University, presenting our work co-authored with Aniruddha Ganguly from Jadavpur University: 'Spectral Diagnostic Trajectories: Multi-Modal Hypergraph State-Space Tracking, Context Decoupling, and Congestion Mitigation in Stochastic Clinical Service Systems'.</a:t>
            </a:r>
          </a:p>
          <a:p/>
          <a:p>
            <a:r>
              <a:t>We address a critical bottleneck at the intersection of AI, clinical workflow, and queueing operations: how clinicians retrieve information under acute uncertainty, and why eliminating search friction directly unlocks macroscopic throughput gains in congested hospital emergency departments."</a:t>
            </a:r>
          </a:p>
          <a:p/>
          <a:p>
            <a:r>
              <a:t>KEY TALKING POINTS:</a:t>
            </a:r>
          </a:p>
          <a:p>
            <a:r>
              <a:t>• Stanford University &amp; Jadavpur University collaboration.</a:t>
            </a:r>
          </a:p>
          <a:p>
            <a:r>
              <a:t>• Core intersection: Healthcare AI, Spectral Graph Theory, and Stochastic Operations Research.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0:45 - 1:15 | ~30 sec]</a:t>
            </a:r>
          </a:p>
          <a:p>
            <a:r>
              <a:t>ORAL PRESENTATION SCRIPT:</a:t>
            </a:r>
          </a:p>
          <a:p>
            <a:r>
              <a:t>"Here is our roadmap. We begin with clinical search bottlenecks and research gaps in the literature. We then present the Spectral Diagnostic Trajectories architecture and its theoretical Cheeger bounds. Finally, we report empirical outcomes across 1,000 standardized vignettes and 9,000 sessions, examine clinician workload and macro-queueing impacts, and conclude with the translational roadmap."</a:t>
            </a:r>
          </a:p>
          <a:p/>
          <a:p>
            <a:r>
              <a:t>KEY TALKING POINTS:</a:t>
            </a:r>
          </a:p>
          <a:p>
            <a:r>
              <a:t>• Logical progression from clinical challenge to mathematical guarantees and hospital-wide operational impact.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1:15 - 2:15 | ~1.0 min]</a:t>
            </a:r>
          </a:p>
          <a:p>
            <a:r>
              <a:t>ORAL PRESENTATION SCRIPT:</a:t>
            </a:r>
          </a:p>
          <a:p>
            <a:r>
              <a:t>"To summarize the paper's core contributions: Clinicians in acute care spend over 33% of active shifts querying fragmented EHRs. When a patient's presentation abruptly pivots—such as an initial pneumonia impression revealing pulmonary embolism—conventional retrievers fail: stateless models discard workflow context, while continuous Riemannian smoothing lags behind acute bifurcations.</a:t>
            </a:r>
          </a:p>
          <a:p/>
          <a:p>
            <a:r>
              <a:t>SDT unifies continuous 125 Hz telemetry and clinical notes into dynamic hypergraphs. By tracking the hypergraph Laplacian spectral gap in linear time O(|Et|), we detect pivots instantly and apply Cheeger bisections to sever obsolete context.</a:t>
            </a:r>
          </a:p>
          <a:p/>
          <a:p>
            <a:r>
              <a:t>This achieves a 28.9% TTCI speedup, 93.9% resolution accuracy, a 42.5% mental workload reduction, and eliminates 12.3 minutes of emergency waiting room delay per patient."</a:t>
            </a:r>
          </a:p>
          <a:p/>
          <a:p>
            <a:r>
              <a:t>KEY TALKING POINTS:</a:t>
            </a:r>
          </a:p>
          <a:p>
            <a:r>
              <a:t>• Problem: Context contamination during acute diagnostic regime shifts.</a:t>
            </a:r>
          </a:p>
          <a:p>
            <a:r>
              <a:t>• SDT Solution: Dynamic hypergraph tracking, Cheeger decoupling cut, and cognitive knapsack prefetching.</a:t>
            </a:r>
          </a:p>
          <a:p>
            <a:r>
              <a:t>• Key Gains: 28.9% faster insight, 93.9% accuracy, 12.3 min wait time reduction.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2:15 - 3:30 | ~1 min 15 sec]</a:t>
            </a:r>
          </a:p>
          <a:p>
            <a:r>
              <a:t>ORAL PRESENTATION SCRIPT:</a:t>
            </a:r>
          </a:p>
          <a:p>
            <a:r>
              <a:t>"Let us examine the operational realities. An emergency physician manages 20 to 30 concurrent, undifferentiated patients inundated with multi-rate data: continuous 125 Hz ECG waveforms, labs, radiographs, and narrative notes.</a:t>
            </a:r>
          </a:p>
          <a:p/>
          <a:p>
            <a:r>
              <a:t>Crucially, 53% of complex emergency cases undergo acute diagnostic regime shifts. In current systems, obsolete evidence remains trapped in the context window. This 'context poisoning' biases downstream retrieval and induces cognitive fatigue.</a:t>
            </a:r>
          </a:p>
          <a:p/>
          <a:p>
            <a:r>
              <a:t>Furthermore, emergency departments operate under heavy traffic (rho &gt; 0.90). In this regime, waiting time scales quadratically: O((1-rho)^-2). Even modest search delays amplify into hours of department-wide boarding. Saving 25 seconds per encounter is high-leverage because it shifts operations away from catastrophic delay asymptotes."</a:t>
            </a:r>
          </a:p>
          <a:p/>
          <a:p>
            <a:r>
              <a:t>KEY TALKING POINTS:</a:t>
            </a:r>
          </a:p>
          <a:p>
            <a:r>
              <a:t>• Information overload: 20-30 concurrent patients, continuous multi-rate data.</a:t>
            </a:r>
          </a:p>
          <a:p>
            <a:r>
              <a:t>• Context poisoning: 53% of cases pivot, trapping stale hypotheses in retrieval prompts.</a:t>
            </a:r>
          </a:p>
          <a:p>
            <a:r>
              <a:t>• Queueing leverage: Near-saturation queues magnify individual task delays into system-wide gridlock.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3:30 - 4:45 | ~1 min 15 sec]</a:t>
            </a:r>
          </a:p>
          <a:p>
            <a:r>
              <a:t>ORAL PRESENTATION SCRIPT:</a:t>
            </a:r>
          </a:p>
          <a:p>
            <a:r>
              <a:t>"Evaluating the literature reveals four existing paradigms:</a:t>
            </a:r>
          </a:p>
          <a:p>
            <a:r>
              <a:t>1. Lexical search (BM25) is stateless, ignores clinical trajectory, and lacks waveform support.</a:t>
            </a:r>
          </a:p>
          <a:p>
            <a:r>
              <a:t>2. Dense Semantic RAG (MedCPT) captures semantic text similarities, but remains memoryless between turns.</a:t>
            </a:r>
          </a:p>
          <a:p>
            <a:r>
              <a:t>3. Knowledge Graphs (GraphCare) capture static medical ontologies, but cannot ingest continuous 125 Hz telemetry.</a:t>
            </a:r>
          </a:p>
          <a:p>
            <a:r>
              <a:t>4. Continuous Riemannian Manifolds (GDT) model drift on SPD cones, but continuous geodesic smoothing mathematically lags behind acute discrete bifurcations.</a:t>
            </a:r>
          </a:p>
          <a:p/>
          <a:p>
            <a:r>
              <a:t>SDT bridges these worlds: dynamic hypergraph Laplacians, continuous Mamba-2 telemetry state-spaces, and discrete Cheeger cuts that isolate obsolete context with formal mathematical guarantees."</a:t>
            </a:r>
          </a:p>
          <a:p/>
          <a:p>
            <a:r>
              <a:t>KEY TALKING POINTS:</a:t>
            </a:r>
          </a:p>
          <a:p>
            <a:r>
              <a:t>• Highlight the matrix columns.</a:t>
            </a:r>
          </a:p>
          <a:p>
            <a:r>
              <a:t>• Emphasize the core contrast: Continuous manifold smoothing vs. discrete Cheeger topological cuts.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4:45 - 5:45 | ~1.0 min]</a:t>
            </a:r>
          </a:p>
          <a:p>
            <a:r>
              <a:t>ORAL PRESENTATION SCRIPT:</a:t>
            </a:r>
          </a:p>
          <a:p>
            <a:r>
              <a:t>"This analysis uncovers four critical research gaps:</a:t>
            </a:r>
          </a:p>
          <a:p>
            <a:r>
              <a:t>Gap 1: The Memoryless vs. Over-Smoothed Dilemma. Stateless models discard trajectory; continuous manifold models over-smooth.</a:t>
            </a:r>
          </a:p>
          <a:p>
            <a:r>
              <a:t>Gap 2: Neglect of High-Frequency Waveforms. Current RAG systems index text narratives and billing codes, ignoring continuous 125 Hz physiological telemetry that carries the earliest markers of acute instability.</a:t>
            </a:r>
          </a:p>
          <a:p>
            <a:r>
              <a:t>Gap 3: Unbounded Context Contamination. Systems lack topological mechanisms to prune obsolete context, causing prompt poisoning and clinician cognitive fatigue.</a:t>
            </a:r>
          </a:p>
          <a:p>
            <a:r>
              <a:t>Gap 4: Micro-Latency to Macro-Congestion Disconnect. Prior work benchmarks millisecond query latency in isolation, ignoring the super-linear queueing physics of congested hospital systems."</a:t>
            </a:r>
          </a:p>
          <a:p/>
          <a:p>
            <a:r>
              <a:t>KEY TALKING POINTS:</a:t>
            </a:r>
          </a:p>
          <a:p>
            <a:r>
              <a:t>• Four foundational gaps: memoryless dilemma, waveform omission, prompt pollution, and queueing disconnect.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5:45 - 7:45 | ~2.0 min]</a:t>
            </a:r>
          </a:p>
          <a:p>
            <a:r>
              <a:t>ORAL PRESENTATION SCRIPT:</a:t>
            </a:r>
          </a:p>
          <a:p>
            <a:r>
              <a:t>"Here is the 5-stage SDT architecture:</a:t>
            </a:r>
          </a:p>
          <a:p>
            <a:r>
              <a:t>Stage 1: Multi-Modal Ingestion. Clinical notes are embedded via ClinicalBERT; continuous 125 Hz waveforms are ingested in linear time via selective state-space Mamba-2 models.</a:t>
            </a:r>
          </a:p>
          <a:p>
            <a:r>
              <a:t>Stage 2: Dynamic Hypergraph. Polyadic hyperedges bind diagnostic entities, notes, and telemetry with composite semantic, temporal, and severity weights.</a:t>
            </a:r>
          </a:p>
          <a:p>
            <a:r>
              <a:t>Stage 3: Linear-Time Pivot Detection. We track the normalized Laplacian Fiedler value lambda_2 in O(|Et|) time using warm-started Lanczos iteration. A sudden drop in spectral gap (Delta lambda_2 &gt; 0.15) detects diagnostic regime shifts in under 15 milliseconds.</a:t>
            </a:r>
          </a:p>
          <a:p>
            <a:r>
              <a:t>Stage 4: Cheeger Decoupling Cut. We perform a Cheeger bisection on the Fiedler vector to prune obsolete context branches. In Theorem 1, we prove that context leakage is strictly bounded by P_leak &lt;= sqrt(2 * tau_pivot) = 0.548.</a:t>
            </a:r>
          </a:p>
          <a:p>
            <a:r>
              <a:t>Stage 5: Cognitive Prefetching. Staging is formulated as an information-theoretic 0/1 knapsack bounded by Sweller's working memory limit (Cmax &lt;= 7.0 bits), curbing alert fatigue while feeding into the hospital queueing model."</a:t>
            </a:r>
          </a:p>
          <a:p/>
          <a:p>
            <a:r>
              <a:t>KEY TALKING POINTS:</a:t>
            </a:r>
          </a:p>
          <a:p>
            <a:r>
              <a:t>• Step through the 5 visual stages.</a:t>
            </a:r>
          </a:p>
          <a:p>
            <a:r>
              <a:t>• Complexity is linear O(|Et|), achieving 112ms end-to-end latency.</a:t>
            </a:r>
          </a:p>
          <a:p>
            <a:r>
              <a:t>• Theorem 1 guarantees strict context isolation during acute bifurcations.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7:45 - 9:30 | ~1 min 45 sec]</a:t>
            </a:r>
          </a:p>
          <a:p>
            <a:r>
              <a:t>ORAL PRESENTATION SCRIPT:</a:t>
            </a:r>
          </a:p>
          <a:p>
            <a:r>
              <a:t>"We evaluated SDT on a 1,000-vignette benchmark spanning MIMIC-IV, HiRID, and MIMIC-CXR across 9,000 simulated sessions across 9 arms.</a:t>
            </a:r>
          </a:p>
          <a:p/>
          <a:p>
            <a:r>
              <a:t>Key empirical outcomes:</a:t>
            </a:r>
          </a:p>
          <a:p>
            <a:r>
              <a:t>1. Time-to-Clinical-Insight: SDT achieves 62.97 seconds versus 88.52 seconds for Control—a 28.9% speedup (p &lt; 10^-12, large effect size d = 1.38). It also beats continuous Riemannian manifolds (GDT) by 8.7% because it avoids smoothing lag.</a:t>
            </a:r>
          </a:p>
          <a:p>
            <a:r>
              <a:t>2. Diagnostic Accuracy: Reaches 93.9% resolution rate, outperforming dense RAG (88.4%) and GDT (91.5%).</a:t>
            </a:r>
          </a:p>
          <a:p>
            <a:r>
              <a:t>3. Retrieval Quality: Recall@5 reaches 0.914 and MRR reaches 0.862 at 112.9 ms per-step latency.</a:t>
            </a:r>
          </a:p>
          <a:p>
            <a:r>
              <a:t>4. Ablations prove that omitting telemetry degrades TTCI to 69.5s; omitting Cheeger cuts degrades TTCI to 71.3s; and omitting surprisal bounds spikes cognitive load by 39%."</a:t>
            </a:r>
          </a:p>
          <a:p/>
          <a:p>
            <a:r>
              <a:t>KEY TALKING POINTS:</a:t>
            </a:r>
          </a:p>
          <a:p>
            <a:r>
              <a:t>• Reference the 9-arm results table and bar chart.</a:t>
            </a:r>
          </a:p>
          <a:p>
            <a:r>
              <a:t>• 28.9% TTCI speedup, 93.9% accuracy, 0.914 Recall@5, 112.9ms latency.</a:t>
            </a:r>
          </a:p>
          <a:p>
            <a:r>
              <a:t>• Ablation confirms each architectural component is strictly necessary.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9:30 - 11:00 | ~1 min 30 sec]</a:t>
            </a:r>
          </a:p>
          <a:p>
            <a:r>
              <a:t>ORAL PRESENTATION SCRIPT:</a:t>
            </a:r>
          </a:p>
          <a:p>
            <a:r>
              <a:t>"Next, we examine clinician ergonomics and macro-queueing dynamics.</a:t>
            </a:r>
          </a:p>
          <a:p/>
          <a:p>
            <a:r>
              <a:t>On the left: NASA-TLX profiles show dramatic workload reductions. Mental Demand drops from 66.7 to 38.3 (-42.5%), Frustration drops from 39.9 to 17.5 (-56.2%), and Effort decreases by 40.6% because obsolete context is pruned before polluting the screen.</a:t>
            </a:r>
          </a:p>
          <a:p/>
          <a:p>
            <a:r>
              <a:t>On the right: Macro hospital queueing impact in an emergency department staffed by 8 physicians at 93.75% utilization. In Theorem 3, we showed that delay sensitivity scales as O((1-rho)^-2). Because clinicians spend 33% of their time searching records, our 25.55-second retrieval speedup reduces consultation time from 18.0 to 17.57 minutes.</a:t>
            </a:r>
          </a:p>
          <a:p/>
          <a:p>
            <a:r>
              <a:t>In heavy traffic, this 2.4% service-rate increase cascades into a 12.31-minute reduction in waiting room queue delay per patient, eliminating over 10,200 hours of cumulative boarding annually for a 50,000-visit hospital."</a:t>
            </a:r>
          </a:p>
          <a:p/>
          <a:p>
            <a:r>
              <a:t>KEY TALKING POINTS:</a:t>
            </a:r>
          </a:p>
          <a:p>
            <a:r>
              <a:t>• NASA-TLX radar: Mental Demand -42.5%, Frustration -56.2%.</a:t>
            </a:r>
          </a:p>
          <a:p>
            <a:r>
              <a:t>• Theorem 3 Queueing curve: Super-linear sensitivity O((1-rho)^-2).</a:t>
            </a:r>
          </a:p>
          <a:p>
            <a:r>
              <a:t>• Macro payoff: 25.6s search speedup -&gt; 12.31 min wait reduction -&gt; &gt;10,200 annual boarding hours eliminated.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11:00 - 11:45 | ~45 sec]</a:t>
            </a:r>
          </a:p>
          <a:p>
            <a:r>
              <a:t>ORAL PRESENTATION SCRIPT:</a:t>
            </a:r>
          </a:p>
          <a:p>
            <a:r>
              <a:t>"To conclude, SDT delivers four scientific breakthroughs: discrete Cheeger cuts over continuous manifold smoothing, continuous 125 Hz telemetry state-space tracking, cognitive-bounded surprisal prefetching, and formal micro-to-macro queueing leverage.</a:t>
            </a:r>
          </a:p>
          <a:p/>
          <a:p>
            <a:r>
              <a:t>On the translational horizon: We are packaging SDT into a SMART-on-FHIR sidecar for Epic and Cerner, preparing prospective silent shadow trials in Level-1 trauma centers, and developing federated multi-facility hypergraphs with one-click human-in-the-loop context restoration."</a:t>
            </a:r>
          </a:p>
          <a:p/>
          <a:p>
            <a:r>
              <a:t>KEY TALKING POINTS:</a:t>
            </a:r>
          </a:p>
          <a:p>
            <a:r>
              <a:t>• Reiterate the 4 core contributions.</a:t>
            </a:r>
          </a:p>
          <a:p>
            <a:r>
              <a:t>• Outline the practical translational roadmap: SMART-on-FHIR, silent shadow trials, federated hypergraphs.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11:45 - 12:00 | ~15 sec]</a:t>
            </a:r>
          </a:p>
          <a:p>
            <a:r>
              <a:t>ORAL PRESENTATION SCRIPT:</a:t>
            </a:r>
          </a:p>
          <a:p>
            <a:r>
              <a:t>"Here are our primary references grounding this research. Thank you very much for your time, and I look forward to your questions."</a:t>
            </a:r>
          </a:p>
          <a:p/>
          <a:p>
            <a:r>
              <a:t>KEY TALKING POINTS:</a:t>
            </a:r>
          </a:p>
          <a:p>
            <a:r>
              <a:t>• Acknowledge core literature and open the floor to Q&amp;A.</a:t>
            </a:r>
          </a:p>
          <a:p>
            <a:r>
              <a:t>• Quick Q&amp;A cues:</a:t>
            </a:r>
          </a:p>
          <a:p>
            <a:r>
              <a:t>  - Eigendecomposition speed: Warm-started Lanczos converges in 5-8 iterations (&lt;15ms).</a:t>
            </a:r>
          </a:p>
          <a:p>
            <a:r>
              <a:t>  - Censoring boundary: Average TTCI is ~63s, far below the 300s censoring limit.</a:t>
            </a:r>
          </a:p>
          <a:p>
            <a:r>
              <a:t>  - Safety: Pruned context remains restorable in a collapsible drawer.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AF19C-4D3B-4283-B632-5CFB8FB956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E01616-88CA-4437-B1B8-62F6DEE62A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F3850B-84AC-47FE-8838-BED318289AFF}"/>
              </a:ext>
            </a:extLst>
          </p:cNvPr>
          <p:cNvSpPr>
            <a:spLocks noGrp="1"/>
          </p:cNvSpPr>
          <p:nvPr>
            <p:ph type="dt" sz="half" idx="10"/>
          </p:nvPr>
        </p:nvSpPr>
        <p:spPr/>
        <p:txBody>
          <a:bodyPr/>
          <a:lstStyle/>
          <a:p>
            <a:fld id="{7B4479E0-AE4B-443A-B706-E9336E2A033A}" type="datetime1">
              <a:rPr lang="en-IN" smtClean="0"/>
              <a:t>02/10/26</a:t>
            </a:fld>
            <a:endParaRPr lang="en-IN"/>
          </a:p>
        </p:txBody>
      </p:sp>
      <p:sp>
        <p:nvSpPr>
          <p:cNvPr id="5" name="Footer Placeholder 4">
            <a:extLst>
              <a:ext uri="{FF2B5EF4-FFF2-40B4-BE49-F238E27FC236}">
                <a16:creationId xmlns:a16="http://schemas.microsoft.com/office/drawing/2014/main" id="{A34EC73D-0A8A-4950-9FD7-487AC00EA584}"/>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F5618BE-0643-45DA-993E-5938F8F8B2D6}"/>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11450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83C3-5D56-47C4-BAAA-0AEE6B039F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05191E-F147-465C-B1BC-F3192025C9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784D21-8E56-4941-93C0-57B67E22C5FD}"/>
              </a:ext>
            </a:extLst>
          </p:cNvPr>
          <p:cNvSpPr>
            <a:spLocks noGrp="1"/>
          </p:cNvSpPr>
          <p:nvPr>
            <p:ph type="dt" sz="half" idx="10"/>
          </p:nvPr>
        </p:nvSpPr>
        <p:spPr/>
        <p:txBody>
          <a:bodyPr/>
          <a:lstStyle/>
          <a:p>
            <a:fld id="{DCD3C179-F1B2-4AC4-B918-797EED3C2BBC}" type="datetime1">
              <a:rPr lang="en-IN" smtClean="0"/>
              <a:t>02/10/26</a:t>
            </a:fld>
            <a:endParaRPr lang="en-IN"/>
          </a:p>
        </p:txBody>
      </p:sp>
      <p:sp>
        <p:nvSpPr>
          <p:cNvPr id="5" name="Footer Placeholder 4">
            <a:extLst>
              <a:ext uri="{FF2B5EF4-FFF2-40B4-BE49-F238E27FC236}">
                <a16:creationId xmlns:a16="http://schemas.microsoft.com/office/drawing/2014/main" id="{CD79476B-12F5-4CE0-8BED-CC7E02D051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2A82A1D1-2DC0-4EB9-B1C0-3D0A17261884}"/>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2406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3532-2579-487E-A806-FE059BC2E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1D22E9-2061-45FA-973E-DC229F8B3A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E1C65-23E2-4167-B173-FA4734A19564}"/>
              </a:ext>
            </a:extLst>
          </p:cNvPr>
          <p:cNvSpPr>
            <a:spLocks noGrp="1"/>
          </p:cNvSpPr>
          <p:nvPr>
            <p:ph type="dt" sz="half" idx="10"/>
          </p:nvPr>
        </p:nvSpPr>
        <p:spPr/>
        <p:txBody>
          <a:bodyPr/>
          <a:lstStyle/>
          <a:p>
            <a:fld id="{F4F31B55-9E00-4A1A-BBAC-863EF197F6B9}" type="datetime1">
              <a:rPr lang="en-IN" smtClean="0"/>
              <a:t>02/10/26</a:t>
            </a:fld>
            <a:endParaRPr lang="en-IN"/>
          </a:p>
        </p:txBody>
      </p:sp>
      <p:sp>
        <p:nvSpPr>
          <p:cNvPr id="5" name="Footer Placeholder 4">
            <a:extLst>
              <a:ext uri="{FF2B5EF4-FFF2-40B4-BE49-F238E27FC236}">
                <a16:creationId xmlns:a16="http://schemas.microsoft.com/office/drawing/2014/main" id="{FD3BCE50-78C6-4AF3-8C31-1792D834EE3A}"/>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757E728E-FD97-4282-985C-0A8FA934812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75906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8648D-8839-402E-8EBE-66C675551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9641E8-F7C7-4F72-83E8-E8E8F3A89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211418-08AA-441A-8A66-97EDBEE0A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3319B3-62E9-4A88-A05B-55A69EF5135C}"/>
              </a:ext>
            </a:extLst>
          </p:cNvPr>
          <p:cNvSpPr>
            <a:spLocks noGrp="1"/>
          </p:cNvSpPr>
          <p:nvPr>
            <p:ph type="dt" sz="half" idx="10"/>
          </p:nvPr>
        </p:nvSpPr>
        <p:spPr/>
        <p:txBody>
          <a:bodyPr/>
          <a:lstStyle/>
          <a:p>
            <a:fld id="{F2EBF340-A21F-4D97-85F1-0DFB22960BCF}" type="datetime1">
              <a:rPr lang="en-IN" smtClean="0"/>
              <a:t>02/10/26</a:t>
            </a:fld>
            <a:endParaRPr lang="en-IN"/>
          </a:p>
        </p:txBody>
      </p:sp>
      <p:sp>
        <p:nvSpPr>
          <p:cNvPr id="6" name="Footer Placeholder 5">
            <a:extLst>
              <a:ext uri="{FF2B5EF4-FFF2-40B4-BE49-F238E27FC236}">
                <a16:creationId xmlns:a16="http://schemas.microsoft.com/office/drawing/2014/main" id="{5ABF91A1-5E44-452F-A78A-FBA5E47F43F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CEF1FC47-031D-4E2A-B90F-BE2FE414202B}"/>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185720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A536-4AE1-4490-9878-471FF125AA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16612D-5A89-4E9A-90B8-BF7FFA8A89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0DF513-E926-411D-8D2B-8831CD3096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BBC415-A031-49A9-9DAD-F150409D1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F0D390-93EF-4E83-9F5B-91286149D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8EC721-76DC-43AF-96DF-A0EE7072BAEC}"/>
              </a:ext>
            </a:extLst>
          </p:cNvPr>
          <p:cNvSpPr>
            <a:spLocks noGrp="1"/>
          </p:cNvSpPr>
          <p:nvPr>
            <p:ph type="dt" sz="half" idx="10"/>
          </p:nvPr>
        </p:nvSpPr>
        <p:spPr/>
        <p:txBody>
          <a:bodyPr/>
          <a:lstStyle/>
          <a:p>
            <a:fld id="{291E6A22-C21D-42F5-A451-C3B1D54F9ACD}" type="datetime1">
              <a:rPr lang="en-IN" smtClean="0"/>
              <a:t>02/10/26</a:t>
            </a:fld>
            <a:endParaRPr lang="en-IN"/>
          </a:p>
        </p:txBody>
      </p:sp>
      <p:sp>
        <p:nvSpPr>
          <p:cNvPr id="8" name="Footer Placeholder 7">
            <a:extLst>
              <a:ext uri="{FF2B5EF4-FFF2-40B4-BE49-F238E27FC236}">
                <a16:creationId xmlns:a16="http://schemas.microsoft.com/office/drawing/2014/main" id="{DCB44597-18DE-4775-8FB6-A97F0DA48910}"/>
              </a:ext>
            </a:extLst>
          </p:cNvPr>
          <p:cNvSpPr>
            <a:spLocks noGrp="1"/>
          </p:cNvSpPr>
          <p:nvPr>
            <p:ph type="ftr" sz="quarter" idx="11"/>
          </p:nvPr>
        </p:nvSpPr>
        <p:spPr/>
        <p:txBody>
          <a:bodyPr/>
          <a:lstStyle/>
          <a:p>
            <a:r>
              <a:rPr lang="en-IN"/>
              <a:t>ICICC-2021</a:t>
            </a:r>
          </a:p>
        </p:txBody>
      </p:sp>
      <p:sp>
        <p:nvSpPr>
          <p:cNvPr id="9" name="Slide Number Placeholder 8">
            <a:extLst>
              <a:ext uri="{FF2B5EF4-FFF2-40B4-BE49-F238E27FC236}">
                <a16:creationId xmlns:a16="http://schemas.microsoft.com/office/drawing/2014/main" id="{2CC72141-DE0D-4AEB-B511-CB9B54FD6F3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52167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12DF-0ED8-4277-B395-2A4F842B7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0E3D8E-0ABE-4734-98F8-D36BD9940E0A}"/>
              </a:ext>
            </a:extLst>
          </p:cNvPr>
          <p:cNvSpPr>
            <a:spLocks noGrp="1"/>
          </p:cNvSpPr>
          <p:nvPr>
            <p:ph type="dt" sz="half" idx="10"/>
          </p:nvPr>
        </p:nvSpPr>
        <p:spPr/>
        <p:txBody>
          <a:bodyPr/>
          <a:lstStyle/>
          <a:p>
            <a:fld id="{40EF2A80-8EEB-43B2-B954-2445775909FC}" type="datetime1">
              <a:rPr lang="en-IN" smtClean="0"/>
              <a:t>02/10/26</a:t>
            </a:fld>
            <a:endParaRPr lang="en-IN"/>
          </a:p>
        </p:txBody>
      </p:sp>
      <p:sp>
        <p:nvSpPr>
          <p:cNvPr id="4" name="Footer Placeholder 3">
            <a:extLst>
              <a:ext uri="{FF2B5EF4-FFF2-40B4-BE49-F238E27FC236}">
                <a16:creationId xmlns:a16="http://schemas.microsoft.com/office/drawing/2014/main" id="{510561F1-B38C-461E-85F3-2481751D02A6}"/>
              </a:ext>
            </a:extLst>
          </p:cNvPr>
          <p:cNvSpPr>
            <a:spLocks noGrp="1"/>
          </p:cNvSpPr>
          <p:nvPr>
            <p:ph type="ftr" sz="quarter" idx="11"/>
          </p:nvPr>
        </p:nvSpPr>
        <p:spPr/>
        <p:txBody>
          <a:bodyPr/>
          <a:lstStyle/>
          <a:p>
            <a:r>
              <a:rPr lang="en-IN"/>
              <a:t>ICICC-2021</a:t>
            </a:r>
          </a:p>
        </p:txBody>
      </p:sp>
      <p:sp>
        <p:nvSpPr>
          <p:cNvPr id="5" name="Slide Number Placeholder 4">
            <a:extLst>
              <a:ext uri="{FF2B5EF4-FFF2-40B4-BE49-F238E27FC236}">
                <a16:creationId xmlns:a16="http://schemas.microsoft.com/office/drawing/2014/main" id="{2E712915-E4FE-415C-9D69-B845A7D83F48}"/>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54736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22E84-AD5B-465F-98D4-488F871AAF00}"/>
              </a:ext>
            </a:extLst>
          </p:cNvPr>
          <p:cNvSpPr>
            <a:spLocks noGrp="1"/>
          </p:cNvSpPr>
          <p:nvPr>
            <p:ph type="dt" sz="half" idx="10"/>
          </p:nvPr>
        </p:nvSpPr>
        <p:spPr/>
        <p:txBody>
          <a:bodyPr/>
          <a:lstStyle/>
          <a:p>
            <a:fld id="{F5566693-10B5-4C2E-88F6-1EF5588C2197}" type="datetime1">
              <a:rPr lang="en-IN" smtClean="0"/>
              <a:t>02/10/26</a:t>
            </a:fld>
            <a:endParaRPr lang="en-IN"/>
          </a:p>
        </p:txBody>
      </p:sp>
      <p:sp>
        <p:nvSpPr>
          <p:cNvPr id="3" name="Footer Placeholder 2">
            <a:extLst>
              <a:ext uri="{FF2B5EF4-FFF2-40B4-BE49-F238E27FC236}">
                <a16:creationId xmlns:a16="http://schemas.microsoft.com/office/drawing/2014/main" id="{1886C86A-862E-4B6A-B263-B01DE6A5BC64}"/>
              </a:ext>
            </a:extLst>
          </p:cNvPr>
          <p:cNvSpPr>
            <a:spLocks noGrp="1"/>
          </p:cNvSpPr>
          <p:nvPr>
            <p:ph type="ftr" sz="quarter" idx="11"/>
          </p:nvPr>
        </p:nvSpPr>
        <p:spPr/>
        <p:txBody>
          <a:bodyPr/>
          <a:lstStyle/>
          <a:p>
            <a:r>
              <a:rPr lang="en-IN"/>
              <a:t>ICICC-2021</a:t>
            </a:r>
          </a:p>
        </p:txBody>
      </p:sp>
      <p:sp>
        <p:nvSpPr>
          <p:cNvPr id="4" name="Slide Number Placeholder 3">
            <a:extLst>
              <a:ext uri="{FF2B5EF4-FFF2-40B4-BE49-F238E27FC236}">
                <a16:creationId xmlns:a16="http://schemas.microsoft.com/office/drawing/2014/main" id="{A62333FC-1B71-4E52-BF49-4D36D092009C}"/>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60383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CCDE-35D4-412E-AFAB-C219873FE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7E1492-B8B6-4708-A8C8-A138B06333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300379-D005-4BAC-B925-C132043087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B0578-F2D9-4D73-83B2-F23670EBE97A}"/>
              </a:ext>
            </a:extLst>
          </p:cNvPr>
          <p:cNvSpPr>
            <a:spLocks noGrp="1"/>
          </p:cNvSpPr>
          <p:nvPr>
            <p:ph type="dt" sz="half" idx="10"/>
          </p:nvPr>
        </p:nvSpPr>
        <p:spPr/>
        <p:txBody>
          <a:bodyPr/>
          <a:lstStyle/>
          <a:p>
            <a:fld id="{0B3F409E-ABE5-44AA-B093-FDB870F5DE32}" type="datetime1">
              <a:rPr lang="en-IN" smtClean="0"/>
              <a:t>02/10/26</a:t>
            </a:fld>
            <a:endParaRPr lang="en-IN"/>
          </a:p>
        </p:txBody>
      </p:sp>
      <p:sp>
        <p:nvSpPr>
          <p:cNvPr id="6" name="Footer Placeholder 5">
            <a:extLst>
              <a:ext uri="{FF2B5EF4-FFF2-40B4-BE49-F238E27FC236}">
                <a16:creationId xmlns:a16="http://schemas.microsoft.com/office/drawing/2014/main" id="{C24F134B-4FB5-46E9-8513-DB4C9B2EE88F}"/>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F0EE61B3-BD8A-43AB-BB10-5B53A90AD79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9417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223D-FF11-4AE7-973E-C90327524F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DF81C-EE9D-4D7F-A967-067231447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53EF43-9D88-4586-A760-098C1475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BD912-76F0-4805-9E0D-7C09F249E8E9}"/>
              </a:ext>
            </a:extLst>
          </p:cNvPr>
          <p:cNvSpPr>
            <a:spLocks noGrp="1"/>
          </p:cNvSpPr>
          <p:nvPr>
            <p:ph type="dt" sz="half" idx="10"/>
          </p:nvPr>
        </p:nvSpPr>
        <p:spPr/>
        <p:txBody>
          <a:bodyPr/>
          <a:lstStyle/>
          <a:p>
            <a:fld id="{E116C6B4-82D6-4D23-BAFE-D8055255E829}" type="datetime1">
              <a:rPr lang="en-IN" smtClean="0"/>
              <a:t>02/10/26</a:t>
            </a:fld>
            <a:endParaRPr lang="en-IN"/>
          </a:p>
        </p:txBody>
      </p:sp>
      <p:sp>
        <p:nvSpPr>
          <p:cNvPr id="6" name="Footer Placeholder 5">
            <a:extLst>
              <a:ext uri="{FF2B5EF4-FFF2-40B4-BE49-F238E27FC236}">
                <a16:creationId xmlns:a16="http://schemas.microsoft.com/office/drawing/2014/main" id="{BA50FEFC-E6F0-4221-8F91-DEE76671F228}"/>
              </a:ext>
            </a:extLst>
          </p:cNvPr>
          <p:cNvSpPr>
            <a:spLocks noGrp="1"/>
          </p:cNvSpPr>
          <p:nvPr>
            <p:ph type="ftr" sz="quarter" idx="11"/>
          </p:nvPr>
        </p:nvSpPr>
        <p:spPr/>
        <p:txBody>
          <a:bodyPr/>
          <a:lstStyle/>
          <a:p>
            <a:r>
              <a:rPr lang="en-IN"/>
              <a:t>ICICC-2021</a:t>
            </a:r>
          </a:p>
        </p:txBody>
      </p:sp>
      <p:sp>
        <p:nvSpPr>
          <p:cNvPr id="7" name="Slide Number Placeholder 6">
            <a:extLst>
              <a:ext uri="{FF2B5EF4-FFF2-40B4-BE49-F238E27FC236}">
                <a16:creationId xmlns:a16="http://schemas.microsoft.com/office/drawing/2014/main" id="{770A78C8-FCAB-43A2-9CE6-A2768B5DABF9}"/>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82632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5A84-E335-48CC-A676-05D91F6A70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60F8BF-FFBC-41F7-B2B0-2CF3804EE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65955D-CA90-44D7-BF8E-BC38A3F36D97}"/>
              </a:ext>
            </a:extLst>
          </p:cNvPr>
          <p:cNvSpPr>
            <a:spLocks noGrp="1"/>
          </p:cNvSpPr>
          <p:nvPr>
            <p:ph type="dt" sz="half" idx="10"/>
          </p:nvPr>
        </p:nvSpPr>
        <p:spPr/>
        <p:txBody>
          <a:bodyPr/>
          <a:lstStyle/>
          <a:p>
            <a:fld id="{36A61C40-9A28-4915-87D9-F21430F4582D}" type="datetime1">
              <a:rPr lang="en-IN" smtClean="0"/>
              <a:t>02/10/26</a:t>
            </a:fld>
            <a:endParaRPr lang="en-IN"/>
          </a:p>
        </p:txBody>
      </p:sp>
      <p:sp>
        <p:nvSpPr>
          <p:cNvPr id="5" name="Footer Placeholder 4">
            <a:extLst>
              <a:ext uri="{FF2B5EF4-FFF2-40B4-BE49-F238E27FC236}">
                <a16:creationId xmlns:a16="http://schemas.microsoft.com/office/drawing/2014/main" id="{870CB078-D83E-4166-A02C-B6B163DA9360}"/>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DCF2FEF6-C837-419F-8835-DC22EF83E19E}"/>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27120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401E9-8805-42DB-AC72-2AE0FF03F7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EB009-1E61-4516-B850-2D2767C6B6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DE6585-E3B2-43BE-AAE1-443822B2FC44}"/>
              </a:ext>
            </a:extLst>
          </p:cNvPr>
          <p:cNvSpPr>
            <a:spLocks noGrp="1"/>
          </p:cNvSpPr>
          <p:nvPr>
            <p:ph type="dt" sz="half" idx="10"/>
          </p:nvPr>
        </p:nvSpPr>
        <p:spPr/>
        <p:txBody>
          <a:bodyPr/>
          <a:lstStyle/>
          <a:p>
            <a:fld id="{93774F61-A72D-47AB-B4C3-4F43AD0A32CC}" type="datetime1">
              <a:rPr lang="en-IN" smtClean="0"/>
              <a:t>02/10/26</a:t>
            </a:fld>
            <a:endParaRPr lang="en-IN"/>
          </a:p>
        </p:txBody>
      </p:sp>
      <p:sp>
        <p:nvSpPr>
          <p:cNvPr id="5" name="Footer Placeholder 4">
            <a:extLst>
              <a:ext uri="{FF2B5EF4-FFF2-40B4-BE49-F238E27FC236}">
                <a16:creationId xmlns:a16="http://schemas.microsoft.com/office/drawing/2014/main" id="{788DC36A-90BB-45C6-86EC-EF77DE5E67FC}"/>
              </a:ext>
            </a:extLst>
          </p:cNvPr>
          <p:cNvSpPr>
            <a:spLocks noGrp="1"/>
          </p:cNvSpPr>
          <p:nvPr>
            <p:ph type="ftr" sz="quarter" idx="11"/>
          </p:nvPr>
        </p:nvSpPr>
        <p:spPr/>
        <p:txBody>
          <a:bodyPr/>
          <a:lstStyle/>
          <a:p>
            <a:r>
              <a:rPr lang="en-IN"/>
              <a:t>ICICC-2021</a:t>
            </a:r>
          </a:p>
        </p:txBody>
      </p:sp>
      <p:sp>
        <p:nvSpPr>
          <p:cNvPr id="6" name="Slide Number Placeholder 5">
            <a:extLst>
              <a:ext uri="{FF2B5EF4-FFF2-40B4-BE49-F238E27FC236}">
                <a16:creationId xmlns:a16="http://schemas.microsoft.com/office/drawing/2014/main" id="{95E6A805-3800-4CB1-9ADA-94754454EBCF}"/>
              </a:ext>
            </a:extLst>
          </p:cNvPr>
          <p:cNvSpPr>
            <a:spLocks noGrp="1"/>
          </p:cNvSpPr>
          <p:nvPr>
            <p:ph type="sldNum" sz="quarter" idx="12"/>
          </p:nvPr>
        </p:nvSpPr>
        <p:spPr/>
        <p:txBody>
          <a:bodyPr/>
          <a:lstStyle/>
          <a:p>
            <a:fld id="{1147CD7D-2DE7-4E97-993E-733569484B37}" type="slidenum">
              <a:rPr lang="en-IN" smtClean="0"/>
              <a:t>‹#›</a:t>
            </a:fld>
            <a:endParaRPr lang="en-IN"/>
          </a:p>
        </p:txBody>
      </p:sp>
    </p:spTree>
    <p:extLst>
      <p:ext uri="{BB962C8B-B14F-4D97-AF65-F5344CB8AC3E}">
        <p14:creationId xmlns:p14="http://schemas.microsoft.com/office/powerpoint/2010/main" val="3749833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EB43A-BD9E-4874-BFFB-60C4AC61A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76C3F-335A-4DB7-9751-C78105CE3F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7C449-54C2-463E-BDDF-5F5299CBA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D91507-B170-49D3-AC27-6346FE1BA60C}" type="datetime1">
              <a:rPr lang="en-IN" smtClean="0"/>
              <a:t>02/10/26</a:t>
            </a:fld>
            <a:endParaRPr lang="en-IN"/>
          </a:p>
        </p:txBody>
      </p:sp>
      <p:sp>
        <p:nvSpPr>
          <p:cNvPr id="5" name="Footer Placeholder 4">
            <a:extLst>
              <a:ext uri="{FF2B5EF4-FFF2-40B4-BE49-F238E27FC236}">
                <a16:creationId xmlns:a16="http://schemas.microsoft.com/office/drawing/2014/main" id="{E9337EE8-8318-4653-A49C-0E3AAA3CE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ICICC-2021</a:t>
            </a:r>
          </a:p>
        </p:txBody>
      </p:sp>
      <p:sp>
        <p:nvSpPr>
          <p:cNvPr id="6" name="Slide Number Placeholder 5">
            <a:extLst>
              <a:ext uri="{FF2B5EF4-FFF2-40B4-BE49-F238E27FC236}">
                <a16:creationId xmlns:a16="http://schemas.microsoft.com/office/drawing/2014/main" id="{B85FA26E-3201-463F-ACF3-CBF98D3B2E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47CD7D-2DE7-4E97-993E-733569484B37}" type="slidenum">
              <a:rPr lang="en-IN" smtClean="0"/>
              <a:t>‹#›</a:t>
            </a:fld>
            <a:endParaRPr lang="en-IN"/>
          </a:p>
        </p:txBody>
      </p:sp>
    </p:spTree>
    <p:extLst>
      <p:ext uri="{BB962C8B-B14F-4D97-AF65-F5344CB8AC3E}">
        <p14:creationId xmlns:p14="http://schemas.microsoft.com/office/powerpoint/2010/main" val="787771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100F44-D89B-C566-B79D-8AFDB5521174}"/>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Rounded Rectangle 2"/>
          <p:cNvSpPr/>
          <p:nvPr/>
        </p:nvSpPr>
        <p:spPr>
          <a:xfrm>
            <a:off x="548640" y="1645920"/>
            <a:ext cx="11091672" cy="489204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543032" cy="4526280"/>
          </a:xfrm>
          <a:prstGeom prst="rect">
            <a:avLst/>
          </a:prstGeom>
          <a:noFill/>
        </p:spPr>
        <p:txBody>
          <a:bodyPr wrap="square" lIns="0" tIns="0" rIns="0" bIns="0">
            <a:spAutoFit/>
          </a:bodyPr>
          <a:lstStyle/>
          <a:p>
            <a:pPr>
              <a:spcBef>
                <a:spcPts val="0"/>
              </a:spcBef>
              <a:spcAft>
                <a:spcPts val="800"/>
              </a:spcAft>
              <a:defRPr sz="1100" b="1">
                <a:solidFill>
                  <a:srgbClr val="184C78"/>
                </a:solidFill>
                <a:latin typeface="Segoe UI"/>
              </a:defRPr>
            </a:pPr>
            <a:r>
              <a:t>INTERNATIONAL CONFERENCE ON INTELLIGENT COMPUTING, INFORMATION &amp; INNOVATIVE DATA TECHNOLOGIES (ICI3T 2026)</a:t>
            </a:r>
          </a:p>
          <a:p>
            <a:pPr>
              <a:spcBef>
                <a:spcPts val="0"/>
              </a:spcBef>
              <a:spcAft>
                <a:spcPts val="1400"/>
              </a:spcAft>
              <a:defRPr sz="2300" b="1">
                <a:solidFill>
                  <a:srgbClr val="102C57"/>
                </a:solidFill>
                <a:latin typeface="Segoe UI"/>
              </a:defRPr>
            </a:pPr>
            <a:r>
              <a:t>Spectral Diagnostic Trajectories: Multi-Modal Hypergraph State-Space Tracking, Context Decoupling, and Congestion Mitigation in Stochastic Clinical Service Systems</a:t>
            </a:r>
          </a:p>
        </p:txBody>
      </p:sp>
      <p:sp>
        <p:nvSpPr>
          <p:cNvPr id="5" name="Rectangle 4"/>
          <p:cNvSpPr/>
          <p:nvPr/>
        </p:nvSpPr>
        <p:spPr>
          <a:xfrm>
            <a:off x="822960" y="3364992"/>
            <a:ext cx="2286000" cy="36576"/>
          </a:xfrm>
          <a:prstGeom prst="rect">
            <a:avLst/>
          </a:prstGeom>
          <a:solidFill>
            <a:srgbClr val="184C78"/>
          </a:solidFill>
          <a:ln>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520440"/>
            <a:ext cx="10543032" cy="1828800"/>
          </a:xfrm>
          <a:prstGeom prst="rect">
            <a:avLst/>
          </a:prstGeom>
          <a:noFill/>
        </p:spPr>
        <p:txBody>
          <a:bodyPr wrap="square" lIns="0" tIns="0" rIns="0" bIns="0">
            <a:spAutoFit/>
          </a:bodyPr>
          <a:lstStyle/>
          <a:p>
            <a:pPr>
              <a:spcBef>
                <a:spcPts val="0"/>
              </a:spcBef>
              <a:spcAft>
                <a:spcPts val="100"/>
              </a:spcAft>
              <a:defRPr sz="1400" b="1">
                <a:solidFill>
                  <a:srgbClr val="102C57"/>
                </a:solidFill>
                <a:latin typeface="Segoe UI"/>
              </a:defRPr>
            </a:pPr>
            <a:r>
              <a:t>Hemanth Manchabale Papachappa</a:t>
            </a:r>
          </a:p>
          <a:p>
            <a:pPr>
              <a:spcBef>
                <a:spcPts val="0"/>
              </a:spcBef>
              <a:spcAft>
                <a:spcPts val="600"/>
              </a:spcAft>
              <a:defRPr sz="1100" b="0">
                <a:solidFill>
                  <a:srgbClr val="6C757D"/>
                </a:solidFill>
                <a:latin typeface="Segoe UI"/>
              </a:defRPr>
            </a:pPr>
            <a:r>
              <a:t>Graduate School of Engineering / Biomedical Informatics Program, Stanford University, Stanford, CA 94305, USA</a:t>
            </a:r>
          </a:p>
          <a:p>
            <a:pPr>
              <a:spcBef>
                <a:spcPts val="0"/>
              </a:spcBef>
              <a:spcAft>
                <a:spcPts val="100"/>
              </a:spcAft>
              <a:defRPr sz="1400" b="1">
                <a:solidFill>
                  <a:srgbClr val="102C57"/>
                </a:solidFill>
                <a:latin typeface="Segoe UI"/>
              </a:defRPr>
            </a:pPr>
            <a:r>
              <a:t>Aniruddha Ganguly</a:t>
            </a:r>
          </a:p>
          <a:p>
            <a:pPr>
              <a:spcBef>
                <a:spcPts val="0"/>
              </a:spcBef>
              <a:spcAft>
                <a:spcPts val="1200"/>
              </a:spcAft>
              <a:defRPr sz="1100" b="0">
                <a:solidFill>
                  <a:srgbClr val="6C757D"/>
                </a:solidFill>
                <a:latin typeface="Segoe UI"/>
              </a:defRPr>
            </a:pPr>
            <a:r>
              <a:t>Department of Computer Science and Engineering, Jadavpur University, Kolkata, West Bengal 700032, India</a:t>
            </a:r>
          </a:p>
          <a:p>
            <a:pPr>
              <a:spcBef>
                <a:spcPts val="0"/>
              </a:spcBef>
              <a:spcAft>
                <a:spcPts val="300"/>
              </a:spcAft>
              <a:defRPr sz="1050" b="1">
                <a:solidFill>
                  <a:srgbClr val="184C78"/>
                </a:solidFill>
                <a:latin typeface="Segoe UI"/>
              </a:defRPr>
            </a:pPr>
            <a:r>
              <a:t>Track: Healthcare AI, Spectral Graph Theory &amp; Stochastic Operations  |  Organiser: "Gheorghe Asachi" Technical University of Iasi, Romania</a:t>
            </a:r>
          </a:p>
        </p:txBody>
      </p:sp>
    </p:spTree>
    <p:extLst>
      <p:ext uri="{BB962C8B-B14F-4D97-AF65-F5344CB8AC3E}">
        <p14:creationId xmlns:p14="http://schemas.microsoft.com/office/powerpoint/2010/main" val="4289812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F3676D-D07D-9280-EA0E-D63861191461}"/>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5" name="TextBox 4"/>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AGENDA &amp; STRUCTURE</a:t>
            </a:r>
          </a:p>
          <a:p>
            <a:pPr>
              <a:defRPr sz="2000" b="1">
                <a:solidFill>
                  <a:srgbClr val="102C57"/>
                </a:solidFill>
                <a:latin typeface="Segoe UI"/>
              </a:defRPr>
            </a:pPr>
            <a:r>
              <a:t>1. INDEX: Presentation Roadmap</a:t>
            </a:r>
          </a:p>
        </p:txBody>
      </p:sp>
      <p:sp>
        <p:nvSpPr>
          <p:cNvPr id="6" name="Rectangle 5"/>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267712"/>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395728"/>
            <a:ext cx="3191256" cy="1005840"/>
          </a:xfrm>
          <a:prstGeom prst="rect">
            <a:avLst/>
          </a:prstGeom>
          <a:noFill/>
        </p:spPr>
        <p:txBody>
          <a:bodyPr wrap="square" lIns="0" tIns="0" rIns="0" bIns="0">
            <a:spAutoFit/>
          </a:bodyPr>
          <a:lstStyle/>
          <a:p>
            <a:pPr>
              <a:spcBef>
                <a:spcPts val="0"/>
              </a:spcBef>
              <a:spcAft>
                <a:spcPts val="300"/>
              </a:spcAft>
              <a:defRPr sz="1250" b="1">
                <a:solidFill>
                  <a:srgbClr val="102C57"/>
                </a:solidFill>
                <a:latin typeface="Segoe UI"/>
              </a:defRPr>
            </a:pPr>
            <a:r>
              <a:t>01. Operational Motivation</a:t>
            </a:r>
          </a:p>
          <a:p>
            <a:pPr>
              <a:spcBef>
                <a:spcPts val="0"/>
              </a:spcBef>
              <a:spcAft>
                <a:spcPts val="0"/>
              </a:spcAft>
              <a:defRPr sz="1050" b="0">
                <a:solidFill>
                  <a:srgbClr val="212529"/>
                </a:solidFill>
                <a:latin typeface="Segoe UI"/>
              </a:defRPr>
            </a:pPr>
            <a:r>
              <a:t>High-acuity emergency care, multimodal telemetry fragmentation, and search latency bottlenecks.</a:t>
            </a:r>
          </a:p>
        </p:txBody>
      </p:sp>
      <p:sp>
        <p:nvSpPr>
          <p:cNvPr id="9" name="Rounded Rectangle 8"/>
          <p:cNvSpPr/>
          <p:nvPr/>
        </p:nvSpPr>
        <p:spPr>
          <a:xfrm>
            <a:off x="548640" y="3694176"/>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822192"/>
            <a:ext cx="3191256" cy="1005840"/>
          </a:xfrm>
          <a:prstGeom prst="rect">
            <a:avLst/>
          </a:prstGeom>
          <a:noFill/>
        </p:spPr>
        <p:txBody>
          <a:bodyPr wrap="square" lIns="0" tIns="0" rIns="0" bIns="0">
            <a:spAutoFit/>
          </a:bodyPr>
          <a:lstStyle/>
          <a:p>
            <a:pPr>
              <a:spcBef>
                <a:spcPts val="0"/>
              </a:spcBef>
              <a:spcAft>
                <a:spcPts val="300"/>
              </a:spcAft>
              <a:defRPr sz="1250" b="1">
                <a:solidFill>
                  <a:srgbClr val="102C57"/>
                </a:solidFill>
                <a:latin typeface="Segoe UI"/>
              </a:defRPr>
            </a:pPr>
            <a:r>
              <a:t>02. Literature Review</a:t>
            </a:r>
          </a:p>
          <a:p>
            <a:pPr>
              <a:spcBef>
                <a:spcPts val="0"/>
              </a:spcBef>
              <a:spcAft>
                <a:spcPts val="0"/>
              </a:spcAft>
              <a:defRPr sz="1050" b="0">
                <a:solidFill>
                  <a:srgbClr val="212529"/>
                </a:solidFill>
                <a:latin typeface="Segoe UI"/>
              </a:defRPr>
            </a:pPr>
            <a:r>
              <a:t>Systematic synthesis of lexical, dense RAG, knowledge graphs, and Riemannian manifold approaches.</a:t>
            </a:r>
          </a:p>
        </p:txBody>
      </p:sp>
      <p:sp>
        <p:nvSpPr>
          <p:cNvPr id="11" name="Rounded Rectangle 10"/>
          <p:cNvSpPr/>
          <p:nvPr/>
        </p:nvSpPr>
        <p:spPr>
          <a:xfrm>
            <a:off x="548640" y="5120640"/>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5248656"/>
            <a:ext cx="3191256" cy="1005840"/>
          </a:xfrm>
          <a:prstGeom prst="rect">
            <a:avLst/>
          </a:prstGeom>
          <a:noFill/>
        </p:spPr>
        <p:txBody>
          <a:bodyPr wrap="square" lIns="0" tIns="0" rIns="0" bIns="0">
            <a:spAutoFit/>
          </a:bodyPr>
          <a:lstStyle/>
          <a:p>
            <a:pPr>
              <a:spcBef>
                <a:spcPts val="0"/>
              </a:spcBef>
              <a:spcAft>
                <a:spcPts val="300"/>
              </a:spcAft>
              <a:defRPr sz="1250" b="1">
                <a:solidFill>
                  <a:srgbClr val="8C1D18"/>
                </a:solidFill>
                <a:latin typeface="Segoe UI"/>
              </a:defRPr>
            </a:pPr>
            <a:r>
              <a:t>03. Critical Research Gaps</a:t>
            </a:r>
          </a:p>
          <a:p>
            <a:pPr>
              <a:spcBef>
                <a:spcPts val="0"/>
              </a:spcBef>
              <a:spcAft>
                <a:spcPts val="0"/>
              </a:spcAft>
              <a:defRPr sz="1050" b="0">
                <a:solidFill>
                  <a:srgbClr val="212529"/>
                </a:solidFill>
                <a:latin typeface="Segoe UI"/>
              </a:defRPr>
            </a:pPr>
            <a:r>
              <a:t>The memoryless vs. over-smoothed dilemma, waveform neglect, and context contamination.</a:t>
            </a:r>
          </a:p>
        </p:txBody>
      </p:sp>
      <p:sp>
        <p:nvSpPr>
          <p:cNvPr id="13" name="Rounded Rectangle 12"/>
          <p:cNvSpPr/>
          <p:nvPr/>
        </p:nvSpPr>
        <p:spPr>
          <a:xfrm>
            <a:off x="4334256" y="2267712"/>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395728"/>
            <a:ext cx="3191256" cy="1005840"/>
          </a:xfrm>
          <a:prstGeom prst="rect">
            <a:avLst/>
          </a:prstGeom>
          <a:noFill/>
        </p:spPr>
        <p:txBody>
          <a:bodyPr wrap="square" lIns="0" tIns="0" rIns="0" bIns="0">
            <a:spAutoFit/>
          </a:bodyPr>
          <a:lstStyle/>
          <a:p>
            <a:pPr>
              <a:spcBef>
                <a:spcPts val="0"/>
              </a:spcBef>
              <a:spcAft>
                <a:spcPts val="300"/>
              </a:spcAft>
              <a:defRPr sz="1250" b="1">
                <a:solidFill>
                  <a:srgbClr val="184C78"/>
                </a:solidFill>
                <a:latin typeface="Segoe UI"/>
              </a:defRPr>
            </a:pPr>
            <a:r>
              <a:t>04. The SDT Framework</a:t>
            </a:r>
          </a:p>
          <a:p>
            <a:pPr>
              <a:spcBef>
                <a:spcPts val="0"/>
              </a:spcBef>
              <a:spcAft>
                <a:spcPts val="0"/>
              </a:spcAft>
              <a:defRPr sz="1050" b="0">
                <a:solidFill>
                  <a:srgbClr val="212529"/>
                </a:solidFill>
                <a:latin typeface="Segoe UI"/>
              </a:defRPr>
            </a:pPr>
            <a:r>
              <a:t>Dynamic hypergraph Laplacians, continuous state-space Mamba-2 waveforms (125 Hz).</a:t>
            </a:r>
          </a:p>
        </p:txBody>
      </p:sp>
      <p:sp>
        <p:nvSpPr>
          <p:cNvPr id="15" name="Rounded Rectangle 14"/>
          <p:cNvSpPr/>
          <p:nvPr/>
        </p:nvSpPr>
        <p:spPr>
          <a:xfrm>
            <a:off x="4334256" y="3694176"/>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8848" y="3822192"/>
            <a:ext cx="3191256" cy="1005840"/>
          </a:xfrm>
          <a:prstGeom prst="rect">
            <a:avLst/>
          </a:prstGeom>
          <a:noFill/>
        </p:spPr>
        <p:txBody>
          <a:bodyPr wrap="square" lIns="0" tIns="0" rIns="0" bIns="0">
            <a:spAutoFit/>
          </a:bodyPr>
          <a:lstStyle/>
          <a:p>
            <a:pPr>
              <a:spcBef>
                <a:spcPts val="0"/>
              </a:spcBef>
              <a:spcAft>
                <a:spcPts val="300"/>
              </a:spcAft>
              <a:defRPr sz="1250" b="1">
                <a:solidFill>
                  <a:srgbClr val="184C78"/>
                </a:solidFill>
                <a:latin typeface="Segoe UI"/>
              </a:defRPr>
            </a:pPr>
            <a:r>
              <a:t>05. Theoretical Decoupling</a:t>
            </a:r>
          </a:p>
          <a:p>
            <a:pPr>
              <a:spcBef>
                <a:spcPts val="0"/>
              </a:spcBef>
              <a:spcAft>
                <a:spcPts val="0"/>
              </a:spcAft>
              <a:defRPr sz="1050" b="0">
                <a:solidFill>
                  <a:srgbClr val="212529"/>
                </a:solidFill>
                <a:latin typeface="Segoe UI"/>
              </a:defRPr>
            </a:pPr>
            <a:r>
              <a:t>Theorem 1: Linear-time O(|Et|) pivot detection; Theorem 2: Formal Cheeger conductance bounds.</a:t>
            </a:r>
          </a:p>
        </p:txBody>
      </p:sp>
      <p:sp>
        <p:nvSpPr>
          <p:cNvPr id="17" name="Rounded Rectangle 16"/>
          <p:cNvSpPr/>
          <p:nvPr/>
        </p:nvSpPr>
        <p:spPr>
          <a:xfrm>
            <a:off x="4334256" y="5120640"/>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5248656"/>
            <a:ext cx="3191256" cy="1005840"/>
          </a:xfrm>
          <a:prstGeom prst="rect">
            <a:avLst/>
          </a:prstGeom>
          <a:noFill/>
        </p:spPr>
        <p:txBody>
          <a:bodyPr wrap="square" lIns="0" tIns="0" rIns="0" bIns="0">
            <a:spAutoFit/>
          </a:bodyPr>
          <a:lstStyle/>
          <a:p>
            <a:pPr>
              <a:spcBef>
                <a:spcPts val="0"/>
              </a:spcBef>
              <a:spcAft>
                <a:spcPts val="300"/>
              </a:spcAft>
              <a:defRPr sz="1250" b="1">
                <a:solidFill>
                  <a:srgbClr val="184C78"/>
                </a:solidFill>
                <a:latin typeface="Segoe UI"/>
              </a:defRPr>
            </a:pPr>
            <a:r>
              <a:t>06. Cognitive Prefetching</a:t>
            </a:r>
          </a:p>
          <a:p>
            <a:pPr>
              <a:spcBef>
                <a:spcPts val="0"/>
              </a:spcBef>
              <a:spcAft>
                <a:spcPts val="0"/>
              </a:spcAft>
              <a:defRPr sz="1050" b="0">
                <a:solidFill>
                  <a:srgbClr val="212529"/>
                </a:solidFill>
                <a:latin typeface="Segoe UI"/>
              </a:defRPr>
            </a:pPr>
            <a:r>
              <a:t>Spectrally biased random walks under Sweller working-memory surprisal limits (Cmax = 7.0 bits).</a:t>
            </a:r>
          </a:p>
        </p:txBody>
      </p:sp>
      <p:sp>
        <p:nvSpPr>
          <p:cNvPr id="19" name="Rounded Rectangle 18"/>
          <p:cNvSpPr/>
          <p:nvPr/>
        </p:nvSpPr>
        <p:spPr>
          <a:xfrm>
            <a:off x="8119872" y="2267712"/>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4464" y="2395728"/>
            <a:ext cx="3191256" cy="1005840"/>
          </a:xfrm>
          <a:prstGeom prst="rect">
            <a:avLst/>
          </a:prstGeom>
          <a:noFill/>
        </p:spPr>
        <p:txBody>
          <a:bodyPr wrap="square" lIns="0" tIns="0" rIns="0" bIns="0">
            <a:spAutoFit/>
          </a:bodyPr>
          <a:lstStyle/>
          <a:p>
            <a:pPr>
              <a:spcBef>
                <a:spcPts val="0"/>
              </a:spcBef>
              <a:spcAft>
                <a:spcPts val="300"/>
              </a:spcAft>
              <a:defRPr sz="1250" b="1">
                <a:solidFill>
                  <a:srgbClr val="146C43"/>
                </a:solidFill>
                <a:latin typeface="Segoe UI"/>
              </a:defRPr>
            </a:pPr>
            <a:r>
              <a:t>07. Erlang C Queueing Model</a:t>
            </a:r>
          </a:p>
          <a:p>
            <a:pPr>
              <a:spcBef>
                <a:spcPts val="0"/>
              </a:spcBef>
              <a:spcAft>
                <a:spcPts val="0"/>
              </a:spcAft>
              <a:defRPr sz="1050" b="0">
                <a:solidFill>
                  <a:srgbClr val="212529"/>
                </a:solidFill>
                <a:latin typeface="Segoe UI"/>
              </a:defRPr>
            </a:pPr>
            <a:r>
              <a:t>Theorem 3: Super-linear waiting time sensitivity O((1-ρ)^-2) in congested hospital servers.</a:t>
            </a:r>
          </a:p>
        </p:txBody>
      </p:sp>
      <p:sp>
        <p:nvSpPr>
          <p:cNvPr id="21" name="Rounded Rectangle 20"/>
          <p:cNvSpPr/>
          <p:nvPr/>
        </p:nvSpPr>
        <p:spPr>
          <a:xfrm>
            <a:off x="8119872" y="3694176"/>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4464" y="3822192"/>
            <a:ext cx="3191256" cy="1005840"/>
          </a:xfrm>
          <a:prstGeom prst="rect">
            <a:avLst/>
          </a:prstGeom>
          <a:noFill/>
        </p:spPr>
        <p:txBody>
          <a:bodyPr wrap="square" lIns="0" tIns="0" rIns="0" bIns="0">
            <a:spAutoFit/>
          </a:bodyPr>
          <a:lstStyle/>
          <a:p>
            <a:pPr>
              <a:spcBef>
                <a:spcPts val="0"/>
              </a:spcBef>
              <a:spcAft>
                <a:spcPts val="300"/>
              </a:spcAft>
              <a:defRPr sz="1250" b="1">
                <a:solidFill>
                  <a:srgbClr val="146C43"/>
                </a:solidFill>
                <a:latin typeface="Segoe UI"/>
              </a:defRPr>
            </a:pPr>
            <a:r>
              <a:t>08. Benchmark Results</a:t>
            </a:r>
          </a:p>
          <a:p>
            <a:pPr>
              <a:spcBef>
                <a:spcPts val="0"/>
              </a:spcBef>
              <a:spcAft>
                <a:spcPts val="0"/>
              </a:spcAft>
              <a:defRPr sz="1050" b="0">
                <a:solidFill>
                  <a:srgbClr val="212529"/>
                </a:solidFill>
                <a:latin typeface="Segoe UI"/>
              </a:defRPr>
            </a:pPr>
            <a:r>
              <a:t>9-arm Latin-square trial on 1,000 vignettes (9,000 runs): TTCI (-28.9%), Accuracy (93.9%), Recall@5.</a:t>
            </a:r>
          </a:p>
        </p:txBody>
      </p:sp>
      <p:sp>
        <p:nvSpPr>
          <p:cNvPr id="23" name="Rounded Rectangle 22"/>
          <p:cNvSpPr/>
          <p:nvPr/>
        </p:nvSpPr>
        <p:spPr>
          <a:xfrm>
            <a:off x="8119872" y="5120640"/>
            <a:ext cx="3520440" cy="126187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84464" y="5248656"/>
            <a:ext cx="3191256" cy="1005840"/>
          </a:xfrm>
          <a:prstGeom prst="rect">
            <a:avLst/>
          </a:prstGeom>
          <a:noFill/>
        </p:spPr>
        <p:txBody>
          <a:bodyPr wrap="square" lIns="0" tIns="0" rIns="0" bIns="0">
            <a:spAutoFit/>
          </a:bodyPr>
          <a:lstStyle/>
          <a:p>
            <a:pPr>
              <a:spcBef>
                <a:spcPts val="0"/>
              </a:spcBef>
              <a:spcAft>
                <a:spcPts val="300"/>
              </a:spcAft>
              <a:defRPr sz="1250" b="1">
                <a:solidFill>
                  <a:srgbClr val="146C43"/>
                </a:solidFill>
                <a:latin typeface="Segoe UI"/>
              </a:defRPr>
            </a:pPr>
            <a:r>
              <a:t>09. Operational Translation</a:t>
            </a:r>
          </a:p>
          <a:p>
            <a:pPr>
              <a:spcBef>
                <a:spcPts val="0"/>
              </a:spcBef>
              <a:spcAft>
                <a:spcPts val="0"/>
              </a:spcAft>
              <a:defRPr sz="1050" b="0">
                <a:solidFill>
                  <a:srgbClr val="212529"/>
                </a:solidFill>
                <a:latin typeface="Segoe UI"/>
              </a:defRPr>
            </a:pPr>
            <a:r>
              <a:t>NASA-TLX workload reductions, &gt;10,200 annual ER boarding hours saved, and deployment roadmap.</a:t>
            </a:r>
          </a:p>
        </p:txBody>
      </p:sp>
    </p:spTree>
    <p:extLst>
      <p:ext uri="{BB962C8B-B14F-4D97-AF65-F5344CB8AC3E}">
        <p14:creationId xmlns:p14="http://schemas.microsoft.com/office/powerpoint/2010/main" val="2763737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599021-0DBA-F319-FDA8-5A5397F89192}"/>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EXECUTIVE SUMMARY</a:t>
            </a:r>
          </a:p>
          <a:p>
            <a:pPr>
              <a:defRPr sz="2000" b="1">
                <a:solidFill>
                  <a:srgbClr val="102C57"/>
                </a:solidFill>
                <a:latin typeface="Segoe UI"/>
              </a:defRPr>
            </a:pPr>
            <a:r>
              <a:t>2. ABSTRACT: Executive Summary &amp; Theoretical Contributions</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267712"/>
            <a:ext cx="352044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87168"/>
            <a:ext cx="3154680" cy="3721608"/>
          </a:xfrm>
          <a:prstGeom prst="rect">
            <a:avLst/>
          </a:prstGeom>
          <a:noFill/>
        </p:spPr>
        <p:txBody>
          <a:bodyPr wrap="square" lIns="0" tIns="0" rIns="0" bIns="0">
            <a:spAutoFit/>
          </a:bodyPr>
          <a:lstStyle/>
          <a:p>
            <a:pPr>
              <a:spcBef>
                <a:spcPts val="0"/>
              </a:spcBef>
              <a:spcAft>
                <a:spcPts val="1000"/>
              </a:spcAft>
              <a:defRPr sz="1300" b="1">
                <a:solidFill>
                  <a:srgbClr val="8C1D18"/>
                </a:solidFill>
                <a:latin typeface="Segoe UI"/>
              </a:defRPr>
            </a:pPr>
            <a:r>
              <a:t>The Clinical Dilemma</a:t>
            </a:r>
          </a:p>
          <a:p>
            <a:pPr>
              <a:spcBef>
                <a:spcPts val="0"/>
              </a:spcBef>
              <a:spcAft>
                <a:spcPts val="800"/>
              </a:spcAft>
              <a:defRPr sz="1050" b="0">
                <a:solidFill>
                  <a:srgbClr val="212529"/>
                </a:solidFill>
                <a:latin typeface="Segoe UI"/>
              </a:defRPr>
            </a:pPr>
            <a:r>
              <a:t>• Severe Time Sink: Clinicians spend &gt;33% of active shifts querying fragmented EHR charts.</a:t>
            </a:r>
          </a:p>
          <a:p>
            <a:pPr>
              <a:spcBef>
                <a:spcPts val="0"/>
              </a:spcBef>
              <a:spcAft>
                <a:spcPts val="800"/>
              </a:spcAft>
              <a:defRPr sz="1050" b="0">
                <a:solidFill>
                  <a:srgbClr val="212529"/>
                </a:solidFill>
                <a:latin typeface="Segoe UI"/>
              </a:defRPr>
            </a:pPr>
            <a:r>
              <a:t>• Trajectory Failure: Systems either forget history (stateless) or lag behind shifts (Riemannian smoothing).</a:t>
            </a:r>
          </a:p>
          <a:p>
            <a:pPr>
              <a:spcBef>
                <a:spcPts val="0"/>
              </a:spcBef>
              <a:spcAft>
                <a:spcPts val="800"/>
              </a:spcAft>
              <a:defRPr sz="1050" b="0">
                <a:solidFill>
                  <a:srgbClr val="212529"/>
                </a:solidFill>
                <a:latin typeface="Segoe UI"/>
              </a:defRPr>
            </a:pPr>
            <a:r>
              <a:t>• Context Contamination: Obsolete hypotheses pollute prompts during acute pivots, causing cognitive fatigue and boarding delays.</a:t>
            </a:r>
          </a:p>
        </p:txBody>
      </p:sp>
      <p:sp>
        <p:nvSpPr>
          <p:cNvPr id="7" name="Rounded Rectangle 6"/>
          <p:cNvSpPr/>
          <p:nvPr/>
        </p:nvSpPr>
        <p:spPr>
          <a:xfrm>
            <a:off x="4334256" y="2267712"/>
            <a:ext cx="352044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2487168"/>
            <a:ext cx="3154680" cy="3721608"/>
          </a:xfrm>
          <a:prstGeom prst="rect">
            <a:avLst/>
          </a:prstGeom>
          <a:noFill/>
        </p:spPr>
        <p:txBody>
          <a:bodyPr wrap="square" lIns="0" tIns="0" rIns="0" bIns="0">
            <a:spAutoFit/>
          </a:bodyPr>
          <a:lstStyle/>
          <a:p>
            <a:pPr>
              <a:spcBef>
                <a:spcPts val="0"/>
              </a:spcBef>
              <a:spcAft>
                <a:spcPts val="1000"/>
              </a:spcAft>
              <a:defRPr sz="1300" b="1">
                <a:solidFill>
                  <a:srgbClr val="102C57"/>
                </a:solidFill>
                <a:latin typeface="Segoe UI"/>
              </a:defRPr>
            </a:pPr>
            <a:r>
              <a:t>The SDT Framework</a:t>
            </a:r>
          </a:p>
          <a:p>
            <a:pPr>
              <a:spcBef>
                <a:spcPts val="0"/>
              </a:spcBef>
              <a:spcAft>
                <a:spcPts val="800"/>
              </a:spcAft>
              <a:defRPr sz="1050" b="0">
                <a:solidFill>
                  <a:srgbClr val="212529"/>
                </a:solidFill>
                <a:latin typeface="Segoe UI"/>
              </a:defRPr>
            </a:pPr>
            <a:r>
              <a:t>• Multi-Modal Tracking: Unifies 125 Hz telemetry (Mamba-2) and clinical notes into dynamic hypergraphs.</a:t>
            </a:r>
          </a:p>
          <a:p>
            <a:pPr>
              <a:spcBef>
                <a:spcPts val="0"/>
              </a:spcBef>
              <a:spcAft>
                <a:spcPts val="800"/>
              </a:spcAft>
              <a:defRPr sz="1050" b="0">
                <a:solidFill>
                  <a:srgbClr val="212529"/>
                </a:solidFill>
                <a:latin typeface="Segoe UI"/>
              </a:defRPr>
            </a:pPr>
            <a:r>
              <a:t>• Cheeger Decoupling Cut: Monitors Laplacian spectral gap in linear time O(|Et|); isolates obsolete context (P_leak ≤ √(2τ_pivot)).</a:t>
            </a:r>
          </a:p>
          <a:p>
            <a:pPr>
              <a:spcBef>
                <a:spcPts val="0"/>
              </a:spcBef>
              <a:spcAft>
                <a:spcPts val="800"/>
              </a:spcAft>
              <a:defRPr sz="1050" b="0">
                <a:solidFill>
                  <a:srgbClr val="212529"/>
                </a:solidFill>
                <a:latin typeface="Segoe UI"/>
              </a:defRPr>
            </a:pPr>
            <a:r>
              <a:t>• Cognitive Prefetch: Stages prospective records via 0/1 knapsack bounded by Sweller limits (Cmax = 7.0 bits).</a:t>
            </a:r>
          </a:p>
        </p:txBody>
      </p:sp>
      <p:sp>
        <p:nvSpPr>
          <p:cNvPr id="9" name="Rounded Rectangle 8"/>
          <p:cNvSpPr/>
          <p:nvPr/>
        </p:nvSpPr>
        <p:spPr>
          <a:xfrm>
            <a:off x="8119872" y="2267712"/>
            <a:ext cx="352044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2487168"/>
            <a:ext cx="3154680" cy="3721608"/>
          </a:xfrm>
          <a:prstGeom prst="rect">
            <a:avLst/>
          </a:prstGeom>
          <a:noFill/>
        </p:spPr>
        <p:txBody>
          <a:bodyPr wrap="square" lIns="0" tIns="0" rIns="0" bIns="0">
            <a:spAutoFit/>
          </a:bodyPr>
          <a:lstStyle/>
          <a:p>
            <a:pPr>
              <a:spcBef>
                <a:spcPts val="0"/>
              </a:spcBef>
              <a:spcAft>
                <a:spcPts val="1000"/>
              </a:spcAft>
              <a:defRPr sz="1300" b="1">
                <a:solidFill>
                  <a:srgbClr val="146C43"/>
                </a:solidFill>
                <a:latin typeface="Segoe UI"/>
              </a:defRPr>
            </a:pPr>
            <a:r>
              <a:t>Empirical &amp; Queueing Impact</a:t>
            </a:r>
          </a:p>
          <a:p>
            <a:pPr>
              <a:spcBef>
                <a:spcPts val="0"/>
              </a:spcBef>
              <a:spcAft>
                <a:spcPts val="800"/>
              </a:spcAft>
              <a:defRPr sz="1050" b="0">
                <a:solidFill>
                  <a:srgbClr val="212529"/>
                </a:solidFill>
                <a:latin typeface="Segoe UI"/>
              </a:defRPr>
            </a:pPr>
            <a:r>
              <a:t>• 28.9% Faster Insight: TTCI drops to 62.97s (vs. 88.52s control, p &lt; 10^-12) with 93.9% resolution accuracy.</a:t>
            </a:r>
          </a:p>
          <a:p>
            <a:pPr>
              <a:spcBef>
                <a:spcPts val="0"/>
              </a:spcBef>
              <a:spcAft>
                <a:spcPts val="800"/>
              </a:spcAft>
              <a:defRPr sz="1050" b="0">
                <a:solidFill>
                  <a:srgbClr val="212529"/>
                </a:solidFill>
                <a:latin typeface="Segoe UI"/>
              </a:defRPr>
            </a:pPr>
            <a:r>
              <a:t>• 32.2% Cognitive Relief: Modeled workload drops; mental demand -42.5%, frustration -56.2%.</a:t>
            </a:r>
          </a:p>
          <a:p>
            <a:pPr>
              <a:spcBef>
                <a:spcPts val="0"/>
              </a:spcBef>
              <a:spcAft>
                <a:spcPts val="800"/>
              </a:spcAft>
              <a:defRPr sz="1050" b="0">
                <a:solidFill>
                  <a:srgbClr val="212529"/>
                </a:solidFill>
                <a:latin typeface="Segoe UI"/>
              </a:defRPr>
            </a:pPr>
            <a:r>
              <a:t>• Macro ED Impact: Super-linear queue leverage saves 12.31 min wait time/patient, eliminating &gt;10,200 annual boarding hours.</a:t>
            </a:r>
          </a:p>
        </p:txBody>
      </p:sp>
    </p:spTree>
    <p:extLst>
      <p:ext uri="{BB962C8B-B14F-4D97-AF65-F5344CB8AC3E}">
        <p14:creationId xmlns:p14="http://schemas.microsoft.com/office/powerpoint/2010/main" val="1219739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F24D30-C5D9-A025-C125-35AE8AF2761C}"/>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OPERATIONAL MOTIVATION</a:t>
            </a:r>
          </a:p>
          <a:p>
            <a:pPr>
              <a:defRPr sz="2000" b="1">
                <a:solidFill>
                  <a:srgbClr val="102C57"/>
                </a:solidFill>
                <a:latin typeface="Segoe UI"/>
              </a:defRPr>
            </a:pPr>
            <a:r>
              <a:t>3. INTRODUCTION: High-Acuity Healthcare Operations &amp; Context Drift</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267712"/>
            <a:ext cx="352044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87168"/>
            <a:ext cx="3154680" cy="3721608"/>
          </a:xfrm>
          <a:prstGeom prst="rect">
            <a:avLst/>
          </a:prstGeom>
          <a:noFill/>
        </p:spPr>
        <p:txBody>
          <a:bodyPr wrap="square" lIns="0" tIns="0" rIns="0" bIns="0">
            <a:spAutoFit/>
          </a:bodyPr>
          <a:lstStyle/>
          <a:p>
            <a:pPr>
              <a:spcBef>
                <a:spcPts val="0"/>
              </a:spcBef>
              <a:spcAft>
                <a:spcPts val="1000"/>
              </a:spcAft>
              <a:defRPr sz="1300" b="1">
                <a:solidFill>
                  <a:srgbClr val="102C57"/>
                </a:solidFill>
                <a:latin typeface="Segoe UI"/>
              </a:defRPr>
            </a:pPr>
            <a:r>
              <a:t>Information Overload &amp; Latency</a:t>
            </a:r>
          </a:p>
          <a:p>
            <a:pPr>
              <a:spcBef>
                <a:spcPts val="0"/>
              </a:spcBef>
              <a:spcAft>
                <a:spcPts val="800"/>
              </a:spcAft>
              <a:defRPr sz="1050" b="0">
                <a:solidFill>
                  <a:srgbClr val="212529"/>
                </a:solidFill>
                <a:latin typeface="Segoe UI"/>
              </a:defRPr>
            </a:pPr>
            <a:r>
              <a:t>• High-Acuity Reality: 20–30 concurrent, undifferentiated patients per emergency physician.</a:t>
            </a:r>
          </a:p>
          <a:p>
            <a:pPr>
              <a:spcBef>
                <a:spcPts val="0"/>
              </a:spcBef>
              <a:spcAft>
                <a:spcPts val="800"/>
              </a:spcAft>
              <a:defRPr sz="1050" b="0">
                <a:solidFill>
                  <a:srgbClr val="212529"/>
                </a:solidFill>
                <a:latin typeface="Segoe UI"/>
              </a:defRPr>
            </a:pPr>
            <a:r>
              <a:t>• Telemetry Fragmentation: Continuous 125–250 Hz waveforms, discrete labs, imaging, and notes.</a:t>
            </a:r>
          </a:p>
          <a:p>
            <a:pPr>
              <a:spcBef>
                <a:spcPts val="0"/>
              </a:spcBef>
              <a:spcAft>
                <a:spcPts val="800"/>
              </a:spcAft>
              <a:defRPr sz="1050" b="0">
                <a:solidFill>
                  <a:srgbClr val="212529"/>
                </a:solidFill>
                <a:latin typeface="Segoe UI"/>
              </a:defRPr>
            </a:pPr>
            <a:r>
              <a:t>• Search Bottleneck: &gt;33% shift time spent in chart navigation; search latency directly delays critical care.</a:t>
            </a:r>
          </a:p>
        </p:txBody>
      </p:sp>
      <p:sp>
        <p:nvSpPr>
          <p:cNvPr id="7" name="Rounded Rectangle 6"/>
          <p:cNvSpPr/>
          <p:nvPr/>
        </p:nvSpPr>
        <p:spPr>
          <a:xfrm>
            <a:off x="4334256" y="2267712"/>
            <a:ext cx="352044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2487168"/>
            <a:ext cx="3154680" cy="3721608"/>
          </a:xfrm>
          <a:prstGeom prst="rect">
            <a:avLst/>
          </a:prstGeom>
          <a:noFill/>
        </p:spPr>
        <p:txBody>
          <a:bodyPr wrap="square" lIns="0" tIns="0" rIns="0" bIns="0">
            <a:spAutoFit/>
          </a:bodyPr>
          <a:lstStyle/>
          <a:p>
            <a:pPr>
              <a:spcBef>
                <a:spcPts val="0"/>
              </a:spcBef>
              <a:spcAft>
                <a:spcPts val="1000"/>
              </a:spcAft>
              <a:defRPr sz="1300" b="1">
                <a:solidFill>
                  <a:srgbClr val="8C1D18"/>
                </a:solidFill>
                <a:latin typeface="Segoe UI"/>
              </a:defRPr>
            </a:pPr>
            <a:r>
              <a:t>Diagnostic Regime Shifts</a:t>
            </a:r>
          </a:p>
          <a:p>
            <a:pPr>
              <a:spcBef>
                <a:spcPts val="0"/>
              </a:spcBef>
              <a:spcAft>
                <a:spcPts val="800"/>
              </a:spcAft>
              <a:defRPr sz="1050" b="0">
                <a:solidFill>
                  <a:srgbClr val="212529"/>
                </a:solidFill>
                <a:latin typeface="Segoe UI"/>
              </a:defRPr>
            </a:pPr>
            <a:r>
              <a:t>• Non-Stationary Workflows: 53.1% of complex emergency cases exhibit acute diagnostic bifurcations.</a:t>
            </a:r>
          </a:p>
          <a:p>
            <a:pPr>
              <a:spcBef>
                <a:spcPts val="0"/>
              </a:spcBef>
              <a:spcAft>
                <a:spcPts val="800"/>
              </a:spcAft>
              <a:defRPr sz="1050" b="0">
                <a:solidFill>
                  <a:srgbClr val="212529"/>
                </a:solidFill>
                <a:latin typeface="Segoe UI"/>
              </a:defRPr>
            </a:pPr>
            <a:r>
              <a:t>• Acute Pivot Example: Pneumonia working impression abruptly refuted by emergent telemetry indicating pulmonary embolism.</a:t>
            </a:r>
          </a:p>
          <a:p>
            <a:pPr>
              <a:spcBef>
                <a:spcPts val="0"/>
              </a:spcBef>
              <a:spcAft>
                <a:spcPts val="800"/>
              </a:spcAft>
              <a:defRPr sz="1050" b="0">
                <a:solidFill>
                  <a:srgbClr val="212529"/>
                </a:solidFill>
                <a:latin typeface="Segoe UI"/>
              </a:defRPr>
            </a:pPr>
            <a:r>
              <a:t>• Context Poisoning: Legacy search retains stale evidence in context, misguiding retrieval and inducing cognitive closure.</a:t>
            </a:r>
          </a:p>
        </p:txBody>
      </p:sp>
      <p:sp>
        <p:nvSpPr>
          <p:cNvPr id="9" name="Rounded Rectangle 8"/>
          <p:cNvSpPr/>
          <p:nvPr/>
        </p:nvSpPr>
        <p:spPr>
          <a:xfrm>
            <a:off x="8119872" y="2267712"/>
            <a:ext cx="352044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2487168"/>
            <a:ext cx="3154680" cy="3721608"/>
          </a:xfrm>
          <a:prstGeom prst="rect">
            <a:avLst/>
          </a:prstGeom>
          <a:noFill/>
        </p:spPr>
        <p:txBody>
          <a:bodyPr wrap="square" lIns="0" tIns="0" rIns="0" bIns="0">
            <a:spAutoFit/>
          </a:bodyPr>
          <a:lstStyle/>
          <a:p>
            <a:pPr>
              <a:spcBef>
                <a:spcPts val="0"/>
              </a:spcBef>
              <a:spcAft>
                <a:spcPts val="1000"/>
              </a:spcAft>
              <a:defRPr sz="1300" b="1">
                <a:solidFill>
                  <a:srgbClr val="146C43"/>
                </a:solidFill>
                <a:latin typeface="Segoe UI"/>
              </a:defRPr>
            </a:pPr>
            <a:r>
              <a:t>Congested Queueing Dynamics</a:t>
            </a:r>
          </a:p>
          <a:p>
            <a:pPr>
              <a:spcBef>
                <a:spcPts val="0"/>
              </a:spcBef>
              <a:spcAft>
                <a:spcPts val="800"/>
              </a:spcAft>
              <a:defRPr sz="1050" b="0">
                <a:solidFill>
                  <a:srgbClr val="212529"/>
                </a:solidFill>
                <a:latin typeface="Segoe UI"/>
              </a:defRPr>
            </a:pPr>
            <a:r>
              <a:t>• Near-Saturation Operations: Emergency departments operate at heavy utilization (ρ = λ/(cμ) &gt; 0.90).</a:t>
            </a:r>
          </a:p>
          <a:p>
            <a:pPr>
              <a:spcBef>
                <a:spcPts val="0"/>
              </a:spcBef>
              <a:spcAft>
                <a:spcPts val="800"/>
              </a:spcAft>
              <a:defRPr sz="1050" b="0">
                <a:solidFill>
                  <a:srgbClr val="212529"/>
                </a:solidFill>
                <a:latin typeface="Segoe UI"/>
              </a:defRPr>
            </a:pPr>
            <a:r>
              <a:t>• Super-Linear Delays: Near saturation, queue delay scales quadratically: ∂Wq/∂(Δt) ≈ O((1-ρ)^-2).</a:t>
            </a:r>
          </a:p>
          <a:p>
            <a:pPr>
              <a:spcBef>
                <a:spcPts val="0"/>
              </a:spcBef>
              <a:spcAft>
                <a:spcPts val="800"/>
              </a:spcAft>
              <a:defRPr sz="1050" b="0">
                <a:solidFill>
                  <a:srgbClr val="212529"/>
                </a:solidFill>
                <a:latin typeface="Segoe UI"/>
              </a:defRPr>
            </a:pPr>
            <a:r>
              <a:t>• Compounding Leverage: Saving 25.6s of search time pulls the hospital away from catastrophic waiting asymptotes.</a:t>
            </a:r>
          </a:p>
        </p:txBody>
      </p:sp>
    </p:spTree>
    <p:extLst>
      <p:ext uri="{BB962C8B-B14F-4D97-AF65-F5344CB8AC3E}">
        <p14:creationId xmlns:p14="http://schemas.microsoft.com/office/powerpoint/2010/main" val="1745122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A23542F-F885-933D-CC12-9CB667548437}"/>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LITERATURE COMPARISON</a:t>
            </a:r>
          </a:p>
          <a:p>
            <a:pPr>
              <a:defRPr sz="2000" b="1">
                <a:solidFill>
                  <a:srgbClr val="102C57"/>
                </a:solidFill>
                <a:latin typeface="Segoe UI"/>
              </a:defRPr>
            </a:pPr>
            <a:r>
              <a:t>4. LITERATURE REVIEW: Systematic Synthesis of Clinical Retrieval Paradigms</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148840"/>
            <a:ext cx="11091672" cy="274320"/>
          </a:xfrm>
          <a:prstGeom prst="rect">
            <a:avLst/>
          </a:prstGeom>
          <a:noFill/>
        </p:spPr>
        <p:txBody>
          <a:bodyPr wrap="none">
            <a:spAutoFit/>
          </a:bodyPr>
          <a:lstStyle/>
          <a:p>
            <a:pPr>
              <a:defRPr sz="1000">
                <a:solidFill>
                  <a:srgbClr val="6C757D"/>
                </a:solidFill>
                <a:latin typeface="Segoe UI"/>
              </a:defRPr>
            </a:pPr>
            <a:r>
              <a:t>Comprehensive evaluation of existing paradigms across mathematical representation, pivot adaptation, waveform support, and operational guarantees:</a:t>
            </a:r>
          </a:p>
        </p:txBody>
      </p:sp>
      <p:graphicFrame>
        <p:nvGraphicFramePr>
          <p:cNvPr id="6" name="Table 5"/>
          <p:cNvGraphicFramePr>
            <a:graphicFrameLocks noGrp="1"/>
          </p:cNvGraphicFramePr>
          <p:nvPr/>
        </p:nvGraphicFramePr>
        <p:xfrm>
          <a:off x="548640" y="2468880"/>
          <a:ext cx="11091672" cy="3931920"/>
        </p:xfrm>
        <a:graphic>
          <a:graphicData uri="http://schemas.openxmlformats.org/drawingml/2006/table">
            <a:tbl>
              <a:tblPr firstRow="1" bandRow="1">
                <a:tableStyleId>{5C22544A-7EE6-4342-B048-85BDC9FD1C3A}</a:tableStyleId>
              </a:tblPr>
              <a:tblGrid>
                <a:gridCol w="1920240"/>
                <a:gridCol w="1828800"/>
                <a:gridCol w="2194560"/>
                <a:gridCol w="2103120"/>
                <a:gridCol w="3044952"/>
              </a:tblGrid>
              <a:tr h="655320">
                <a:tc>
                  <a:txBody>
                    <a:bodyPr/>
                    <a:lstStyle/>
                    <a:p>
                      <a:pPr algn="ctr">
                        <a:defRPr sz="1000" b="1">
                          <a:solidFill>
                            <a:srgbClr val="FFFFFF"/>
                          </a:solidFill>
                          <a:latin typeface="Segoe UI"/>
                        </a:defRPr>
                      </a:pPr>
                      <a:r>
                        <a:t>Retrieval Paradigm</a:t>
                      </a:r>
                    </a:p>
                  </a:txBody>
                  <a:tcPr>
                    <a:solidFill>
                      <a:srgbClr val="102C57"/>
                    </a:solidFill>
                  </a:tcPr>
                </a:tc>
                <a:tc>
                  <a:txBody>
                    <a:bodyPr/>
                    <a:lstStyle/>
                    <a:p>
                      <a:pPr algn="ctr">
                        <a:defRPr sz="1000" b="1">
                          <a:solidFill>
                            <a:srgbClr val="FFFFFF"/>
                          </a:solidFill>
                          <a:latin typeface="Segoe UI"/>
                        </a:defRPr>
                      </a:pPr>
                      <a:r>
                        <a:t>Benchmark Systems</a:t>
                      </a:r>
                    </a:p>
                  </a:txBody>
                  <a:tcPr>
                    <a:solidFill>
                      <a:srgbClr val="102C57"/>
                    </a:solidFill>
                  </a:tcPr>
                </a:tc>
                <a:tc>
                  <a:txBody>
                    <a:bodyPr/>
                    <a:lstStyle/>
                    <a:p>
                      <a:pPr algn="ctr">
                        <a:defRPr sz="1000" b="1">
                          <a:solidFill>
                            <a:srgbClr val="FFFFFF"/>
                          </a:solidFill>
                          <a:latin typeface="Segoe UI"/>
                        </a:defRPr>
                      </a:pPr>
                      <a:r>
                        <a:t>Mathematical Representation</a:t>
                      </a:r>
                    </a:p>
                  </a:txBody>
                  <a:tcPr>
                    <a:solidFill>
                      <a:srgbClr val="102C57"/>
                    </a:solidFill>
                  </a:tcPr>
                </a:tc>
                <a:tc>
                  <a:txBody>
                    <a:bodyPr/>
                    <a:lstStyle/>
                    <a:p>
                      <a:pPr algn="ctr">
                        <a:defRPr sz="1000" b="1">
                          <a:solidFill>
                            <a:srgbClr val="FFFFFF"/>
                          </a:solidFill>
                          <a:latin typeface="Segoe UI"/>
                        </a:defRPr>
                      </a:pPr>
                      <a:r>
                        <a:t>Diagnostic Pivot Adaptation</a:t>
                      </a:r>
                    </a:p>
                  </a:txBody>
                  <a:tcPr>
                    <a:solidFill>
                      <a:srgbClr val="102C57"/>
                    </a:solidFill>
                  </a:tcPr>
                </a:tc>
                <a:tc>
                  <a:txBody>
                    <a:bodyPr/>
                    <a:lstStyle/>
                    <a:p>
                      <a:pPr algn="ctr">
                        <a:defRPr sz="1000" b="1">
                          <a:solidFill>
                            <a:srgbClr val="FFFFFF"/>
                          </a:solidFill>
                          <a:latin typeface="Segoe UI"/>
                        </a:defRPr>
                      </a:pPr>
                      <a:r>
                        <a:t>Core Technical Limitations</a:t>
                      </a:r>
                    </a:p>
                  </a:txBody>
                  <a:tcPr>
                    <a:solidFill>
                      <a:srgbClr val="102C57"/>
                    </a:solidFill>
                  </a:tcPr>
                </a:tc>
              </a:tr>
              <a:tr h="655320">
                <a:tc>
                  <a:txBody>
                    <a:bodyPr/>
                    <a:lstStyle/>
                    <a:p>
                      <a:pPr algn="l">
                        <a:defRPr sz="950" b="1">
                          <a:solidFill>
                            <a:srgbClr val="212529"/>
                          </a:solidFill>
                          <a:latin typeface="Segoe UI"/>
                        </a:defRPr>
                      </a:pPr>
                      <a:r>
                        <a:t>Lexical Matching</a:t>
                      </a:r>
                    </a:p>
                  </a:txBody>
                  <a:tcPr>
                    <a:solidFill>
                      <a:srgbClr val="FFFFFF"/>
                    </a:solidFill>
                  </a:tcPr>
                </a:tc>
                <a:tc>
                  <a:txBody>
                    <a:bodyPr/>
                    <a:lstStyle/>
                    <a:p>
                      <a:pPr algn="l">
                        <a:defRPr sz="950" b="0">
                          <a:solidFill>
                            <a:srgbClr val="212529"/>
                          </a:solidFill>
                          <a:latin typeface="Segoe UI"/>
                        </a:defRPr>
                      </a:pPr>
                      <a:r>
                        <a:t>BM25, TF-IDF</a:t>
                      </a:r>
                      <a:br/>
                      <a:r>
                        <a:t>(Baeza-Yates '99)</a:t>
                      </a:r>
                    </a:p>
                  </a:txBody>
                  <a:tcPr>
                    <a:solidFill>
                      <a:srgbClr val="FFFFFF"/>
                    </a:solidFill>
                  </a:tcPr>
                </a:tc>
                <a:tc>
                  <a:txBody>
                    <a:bodyPr/>
                    <a:lstStyle/>
                    <a:p>
                      <a:pPr algn="l">
                        <a:defRPr sz="950" b="0">
                          <a:solidFill>
                            <a:srgbClr val="212529"/>
                          </a:solidFill>
                          <a:latin typeface="Segoe UI"/>
                        </a:defRPr>
                      </a:pPr>
                      <a:r>
                        <a:t>Inverted index, term frequency vectors</a:t>
                      </a:r>
                    </a:p>
                  </a:txBody>
                  <a:tcPr>
                    <a:solidFill>
                      <a:srgbClr val="FFFFFF"/>
                    </a:solidFill>
                  </a:tcPr>
                </a:tc>
                <a:tc>
                  <a:txBody>
                    <a:bodyPr/>
                    <a:lstStyle/>
                    <a:p>
                      <a:pPr algn="l">
                        <a:defRPr sz="950" b="0">
                          <a:solidFill>
                            <a:srgbClr val="212529"/>
                          </a:solidFill>
                          <a:latin typeface="Segoe UI"/>
                        </a:defRPr>
                      </a:pPr>
                      <a:r>
                        <a:t>None (Stateless query-by-query)</a:t>
                      </a:r>
                    </a:p>
                  </a:txBody>
                  <a:tcPr>
                    <a:solidFill>
                      <a:srgbClr val="FFFFFF"/>
                    </a:solidFill>
                  </a:tcPr>
                </a:tc>
                <a:tc>
                  <a:txBody>
                    <a:bodyPr/>
                    <a:lstStyle/>
                    <a:p>
                      <a:pPr algn="l">
                        <a:defRPr sz="950" b="0">
                          <a:solidFill>
                            <a:srgbClr val="212529"/>
                          </a:solidFill>
                          <a:latin typeface="Segoe UI"/>
                        </a:defRPr>
                      </a:pPr>
                      <a:r>
                        <a:t>High IDF over-weights rare historical terms; zero session continuity; high cognitive burden.</a:t>
                      </a:r>
                    </a:p>
                  </a:txBody>
                  <a:tcPr>
                    <a:solidFill>
                      <a:srgbClr val="FFFFFF"/>
                    </a:solidFill>
                  </a:tcPr>
                </a:tc>
              </a:tr>
              <a:tr h="655320">
                <a:tc>
                  <a:txBody>
                    <a:bodyPr/>
                    <a:lstStyle/>
                    <a:p>
                      <a:pPr algn="l">
                        <a:defRPr sz="950" b="1">
                          <a:solidFill>
                            <a:srgbClr val="212529"/>
                          </a:solidFill>
                          <a:latin typeface="Segoe UI"/>
                        </a:defRPr>
                      </a:pPr>
                      <a:r>
                        <a:t>Dense Clinical RAG</a:t>
                      </a:r>
                    </a:p>
                  </a:txBody>
                  <a:tcPr>
                    <a:solidFill>
                      <a:srgbClr val="F8FAFD"/>
                    </a:solidFill>
                  </a:tcPr>
                </a:tc>
                <a:tc>
                  <a:txBody>
                    <a:bodyPr/>
                    <a:lstStyle/>
                    <a:p>
                      <a:pPr algn="l">
                        <a:defRPr sz="950" b="0">
                          <a:solidFill>
                            <a:srgbClr val="212529"/>
                          </a:solidFill>
                          <a:latin typeface="Segoe UI"/>
                        </a:defRPr>
                      </a:pPr>
                      <a:r>
                        <a:t>MedCPT (Jin '23),</a:t>
                      </a:r>
                      <a:br/>
                      <a:r>
                        <a:t>ColBERTv2 ('22)</a:t>
                      </a:r>
                    </a:p>
                  </a:txBody>
                  <a:tcPr>
                    <a:solidFill>
                      <a:srgbClr val="F8FAFD"/>
                    </a:solidFill>
                  </a:tcPr>
                </a:tc>
                <a:tc>
                  <a:txBody>
                    <a:bodyPr/>
                    <a:lstStyle/>
                    <a:p>
                      <a:pPr algn="l">
                        <a:defRPr sz="950" b="0">
                          <a:solidFill>
                            <a:srgbClr val="212529"/>
                          </a:solidFill>
                          <a:latin typeface="Segoe UI"/>
                        </a:defRPr>
                      </a:pPr>
                      <a:r>
                        <a:t>Dual-encoder embeddings, MaxSim late interaction</a:t>
                      </a:r>
                    </a:p>
                  </a:txBody>
                  <a:tcPr>
                    <a:solidFill>
                      <a:srgbClr val="F8FAFD"/>
                    </a:solidFill>
                  </a:tcPr>
                </a:tc>
                <a:tc>
                  <a:txBody>
                    <a:bodyPr/>
                    <a:lstStyle/>
                    <a:p>
                      <a:pPr algn="l">
                        <a:defRPr sz="950" b="0">
                          <a:solidFill>
                            <a:srgbClr val="212529"/>
                          </a:solidFill>
                          <a:latin typeface="Segoe UI"/>
                        </a:defRPr>
                      </a:pPr>
                      <a:r>
                        <a:t>None (Memoryless dense lookup)</a:t>
                      </a:r>
                    </a:p>
                  </a:txBody>
                  <a:tcPr>
                    <a:solidFill>
                      <a:srgbClr val="F8FAFD"/>
                    </a:solidFill>
                  </a:tcPr>
                </a:tc>
                <a:tc>
                  <a:txBody>
                    <a:bodyPr/>
                    <a:lstStyle/>
                    <a:p>
                      <a:pPr algn="l">
                        <a:defRPr sz="950" b="0">
                          <a:solidFill>
                            <a:srgbClr val="212529"/>
                          </a:solidFill>
                          <a:latin typeface="Segoe UI"/>
                        </a:defRPr>
                      </a:pPr>
                      <a:r>
                        <a:t>Discards longitudinal interaction trajectory; forces repetitive manual query reformulations.</a:t>
                      </a:r>
                    </a:p>
                  </a:txBody>
                  <a:tcPr>
                    <a:solidFill>
                      <a:srgbClr val="F8FAFD"/>
                    </a:solidFill>
                  </a:tcPr>
                </a:tc>
              </a:tr>
              <a:tr h="655320">
                <a:tc>
                  <a:txBody>
                    <a:bodyPr/>
                    <a:lstStyle/>
                    <a:p>
                      <a:pPr algn="l">
                        <a:defRPr sz="950" b="1">
                          <a:solidFill>
                            <a:srgbClr val="212529"/>
                          </a:solidFill>
                          <a:latin typeface="Segoe UI"/>
                        </a:defRPr>
                      </a:pPr>
                      <a:r>
                        <a:t>Static Knowledge Graphs</a:t>
                      </a:r>
                    </a:p>
                  </a:txBody>
                  <a:tcPr>
                    <a:solidFill>
                      <a:srgbClr val="FFFFFF"/>
                    </a:solidFill>
                  </a:tcPr>
                </a:tc>
                <a:tc>
                  <a:txBody>
                    <a:bodyPr/>
                    <a:lstStyle/>
                    <a:p>
                      <a:pPr algn="l">
                        <a:defRPr sz="950" b="0">
                          <a:solidFill>
                            <a:srgbClr val="212529"/>
                          </a:solidFill>
                          <a:latin typeface="Segoe UI"/>
                        </a:defRPr>
                      </a:pPr>
                      <a:r>
                        <a:t>GraphCare</a:t>
                      </a:r>
                      <a:br/>
                      <a:r>
                        <a:t>(Jiang et al. '24)</a:t>
                      </a:r>
                    </a:p>
                  </a:txBody>
                  <a:tcPr>
                    <a:solidFill>
                      <a:srgbClr val="FFFFFF"/>
                    </a:solidFill>
                  </a:tcPr>
                </a:tc>
                <a:tc>
                  <a:txBody>
                    <a:bodyPr/>
                    <a:lstStyle/>
                    <a:p>
                      <a:pPr algn="l">
                        <a:defRPr sz="950" b="0">
                          <a:solidFill>
                            <a:srgbClr val="212529"/>
                          </a:solidFill>
                          <a:latin typeface="Segoe UI"/>
                        </a:defRPr>
                      </a:pPr>
                      <a:r>
                        <a:t>Predefined medical ontology, 2-hop GNN message passing</a:t>
                      </a:r>
                    </a:p>
                  </a:txBody>
                  <a:tcPr>
                    <a:solidFill>
                      <a:srgbClr val="FFFFFF"/>
                    </a:solidFill>
                  </a:tcPr>
                </a:tc>
                <a:tc>
                  <a:txBody>
                    <a:bodyPr/>
                    <a:lstStyle/>
                    <a:p>
                      <a:pPr algn="l">
                        <a:defRPr sz="950" b="0">
                          <a:solidFill>
                            <a:srgbClr val="212529"/>
                          </a:solidFill>
                          <a:latin typeface="Segoe UI"/>
                        </a:defRPr>
                      </a:pPr>
                      <a:r>
                        <a:t>Static graph traversal</a:t>
                      </a:r>
                    </a:p>
                  </a:txBody>
                  <a:tcPr>
                    <a:solidFill>
                      <a:srgbClr val="FFFFFF"/>
                    </a:solidFill>
                  </a:tcPr>
                </a:tc>
                <a:tc>
                  <a:txBody>
                    <a:bodyPr/>
                    <a:lstStyle/>
                    <a:p>
                      <a:pPr algn="l">
                        <a:defRPr sz="950" b="0">
                          <a:solidFill>
                            <a:srgbClr val="212529"/>
                          </a:solidFill>
                          <a:latin typeface="Segoe UI"/>
                        </a:defRPr>
                      </a:pPr>
                      <a:r>
                        <a:t>Static relational graph cannot ingest continuous 125 Hz telemetry; inflexible to sudden bifurcations.</a:t>
                      </a:r>
                    </a:p>
                  </a:txBody>
                  <a:tcPr>
                    <a:solidFill>
                      <a:srgbClr val="FFFFFF"/>
                    </a:solidFill>
                  </a:tcPr>
                </a:tc>
              </a:tr>
              <a:tr h="655320">
                <a:tc>
                  <a:txBody>
                    <a:bodyPr/>
                    <a:lstStyle/>
                    <a:p>
                      <a:pPr algn="l">
                        <a:defRPr sz="950" b="1">
                          <a:solidFill>
                            <a:srgbClr val="212529"/>
                          </a:solidFill>
                          <a:latin typeface="Segoe UI"/>
                        </a:defRPr>
                      </a:pPr>
                      <a:r>
                        <a:t>Continuous Manifolds</a:t>
                      </a:r>
                    </a:p>
                  </a:txBody>
                  <a:tcPr>
                    <a:solidFill>
                      <a:srgbClr val="F8FAFD"/>
                    </a:solidFill>
                  </a:tcPr>
                </a:tc>
                <a:tc>
                  <a:txBody>
                    <a:bodyPr/>
                    <a:lstStyle/>
                    <a:p>
                      <a:pPr algn="l">
                        <a:defRPr sz="950" b="0">
                          <a:solidFill>
                            <a:srgbClr val="212529"/>
                          </a:solidFill>
                          <a:latin typeface="Segoe UI"/>
                        </a:defRPr>
                      </a:pPr>
                      <a:r>
                        <a:t>GDT Framework</a:t>
                      </a:r>
                      <a:br/>
                      <a:r>
                        <a:t>(Riemannian SPD)</a:t>
                      </a:r>
                    </a:p>
                  </a:txBody>
                  <a:tcPr>
                    <a:solidFill>
                      <a:srgbClr val="F8FAFD"/>
                    </a:solidFill>
                  </a:tcPr>
                </a:tc>
                <a:tc>
                  <a:txBody>
                    <a:bodyPr/>
                    <a:lstStyle/>
                    <a:p>
                      <a:pPr algn="l">
                        <a:defRPr sz="950" b="0">
                          <a:solidFill>
                            <a:srgbClr val="212529"/>
                          </a:solidFill>
                          <a:latin typeface="Segoe UI"/>
                        </a:defRPr>
                      </a:pPr>
                      <a:r>
                        <a:t>Covariance on SPD manifold S_d^+ (Pennec '06)</a:t>
                      </a:r>
                    </a:p>
                  </a:txBody>
                  <a:tcPr>
                    <a:solidFill>
                      <a:srgbClr val="F8FAFD"/>
                    </a:solidFill>
                  </a:tcPr>
                </a:tc>
                <a:tc>
                  <a:txBody>
                    <a:bodyPr/>
                    <a:lstStyle/>
                    <a:p>
                      <a:pPr algn="l">
                        <a:defRPr sz="950" b="0">
                          <a:solidFill>
                            <a:srgbClr val="212529"/>
                          </a:solidFill>
                          <a:latin typeface="Segoe UI"/>
                        </a:defRPr>
                      </a:pPr>
                      <a:r>
                        <a:t>Continuous exponential smoothing (e^-γt)</a:t>
                      </a:r>
                    </a:p>
                  </a:txBody>
                  <a:tcPr>
                    <a:solidFill>
                      <a:srgbClr val="F8FAFD"/>
                    </a:solidFill>
                  </a:tcPr>
                </a:tc>
                <a:tc>
                  <a:txBody>
                    <a:bodyPr/>
                    <a:lstStyle/>
                    <a:p>
                      <a:pPr algn="l">
                        <a:defRPr sz="950" b="0">
                          <a:solidFill>
                            <a:srgbClr val="212529"/>
                          </a:solidFill>
                          <a:latin typeface="Segoe UI"/>
                        </a:defRPr>
                      </a:pPr>
                      <a:r>
                        <a:t>Riemannian geodesic smoothing lags behind abrupt discrete bifurcations; context contamination persists.</a:t>
                      </a:r>
                    </a:p>
                  </a:txBody>
                  <a:tcPr>
                    <a:solidFill>
                      <a:srgbClr val="F8FAFD"/>
                    </a:solidFill>
                  </a:tcPr>
                </a:tc>
              </a:tr>
              <a:tr h="655320">
                <a:tc>
                  <a:txBody>
                    <a:bodyPr/>
                    <a:lstStyle/>
                    <a:p>
                      <a:pPr algn="l">
                        <a:defRPr sz="950" b="1">
                          <a:solidFill>
                            <a:srgbClr val="0C3C69"/>
                          </a:solidFill>
                          <a:latin typeface="Segoe UI"/>
                        </a:defRPr>
                      </a:pPr>
                      <a:r>
                        <a:t>SDT (Proposed)</a:t>
                      </a:r>
                    </a:p>
                  </a:txBody>
                  <a:tcPr>
                    <a:solidFill>
                      <a:srgbClr val="EBF3FA"/>
                    </a:solidFill>
                  </a:tcPr>
                </a:tc>
                <a:tc>
                  <a:txBody>
                    <a:bodyPr/>
                    <a:lstStyle/>
                    <a:p>
                      <a:pPr algn="l">
                        <a:defRPr sz="950" b="1">
                          <a:solidFill>
                            <a:srgbClr val="0C3C69"/>
                          </a:solidFill>
                          <a:latin typeface="Segoe UI"/>
                        </a:defRPr>
                      </a:pPr>
                      <a:r>
                        <a:t>Spectral Diagnostic Trajectories (Ours)</a:t>
                      </a:r>
                    </a:p>
                  </a:txBody>
                  <a:tcPr>
                    <a:solidFill>
                      <a:srgbClr val="EBF3FA"/>
                    </a:solidFill>
                  </a:tcPr>
                </a:tc>
                <a:tc>
                  <a:txBody>
                    <a:bodyPr/>
                    <a:lstStyle/>
                    <a:p>
                      <a:pPr algn="l">
                        <a:defRPr sz="950" b="1">
                          <a:solidFill>
                            <a:srgbClr val="0C3C69"/>
                          </a:solidFill>
                          <a:latin typeface="Segoe UI"/>
                        </a:defRPr>
                      </a:pPr>
                      <a:r>
                        <a:t>Dynamic Hypergraph Laplacian + Mamba-2 State Space</a:t>
                      </a:r>
                    </a:p>
                  </a:txBody>
                  <a:tcPr>
                    <a:solidFill>
                      <a:srgbClr val="EBF3FA"/>
                    </a:solidFill>
                  </a:tcPr>
                </a:tc>
                <a:tc>
                  <a:txBody>
                    <a:bodyPr/>
                    <a:lstStyle/>
                    <a:p>
                      <a:pPr algn="l">
                        <a:defRPr sz="950" b="1">
                          <a:solidFill>
                            <a:srgbClr val="0C3C69"/>
                          </a:solidFill>
                          <a:latin typeface="Segoe UI"/>
                        </a:defRPr>
                      </a:pPr>
                      <a:r>
                        <a:t>Exact Cheeger Cut on Fiedler Vector (v2)</a:t>
                      </a:r>
                    </a:p>
                  </a:txBody>
                  <a:tcPr>
                    <a:solidFill>
                      <a:srgbClr val="EBF3FA"/>
                    </a:solidFill>
                  </a:tcPr>
                </a:tc>
                <a:tc>
                  <a:txBody>
                    <a:bodyPr/>
                    <a:lstStyle/>
                    <a:p>
                      <a:pPr algn="l">
                        <a:defRPr sz="950" b="1">
                          <a:solidFill>
                            <a:srgbClr val="0C3C69"/>
                          </a:solidFill>
                          <a:latin typeface="Segoe UI"/>
                        </a:defRPr>
                      </a:pPr>
                      <a:r>
                        <a:t>Resolves all prior limitations: O(|Et|) pivot detection, provable Cheeger bounds, super-linear queue relief.</a:t>
                      </a:r>
                    </a:p>
                  </a:txBody>
                  <a:tcPr>
                    <a:solidFill>
                      <a:srgbClr val="EBF3FA"/>
                    </a:solidFill>
                  </a:tcPr>
                </a:tc>
              </a:tr>
            </a:tbl>
          </a:graphicData>
        </a:graphic>
      </p:graphicFrame>
    </p:spTree>
    <p:extLst>
      <p:ext uri="{BB962C8B-B14F-4D97-AF65-F5344CB8AC3E}">
        <p14:creationId xmlns:p14="http://schemas.microsoft.com/office/powerpoint/2010/main" val="2308261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D8D729-2946-8F5E-4B31-DDF93F0E9F35}"/>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CRITICAL RESEARCH GAPS</a:t>
            </a:r>
          </a:p>
          <a:p>
            <a:pPr>
              <a:defRPr sz="2000" b="1">
                <a:solidFill>
                  <a:srgbClr val="102C57"/>
                </a:solidFill>
                <a:latin typeface="Segoe UI"/>
              </a:defRPr>
            </a:pPr>
            <a:r>
              <a:t>5. RESEARCH GAPS: Fundamental Deficiencies in Existing Paradigms</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267712"/>
            <a:ext cx="5394960" cy="196596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32304"/>
            <a:ext cx="5029200" cy="1636776"/>
          </a:xfrm>
          <a:prstGeom prst="rect">
            <a:avLst/>
          </a:prstGeom>
          <a:noFill/>
        </p:spPr>
        <p:txBody>
          <a:bodyPr wrap="square" lIns="0" tIns="0" rIns="0" bIns="0">
            <a:spAutoFit/>
          </a:bodyPr>
          <a:lstStyle/>
          <a:p>
            <a:pPr>
              <a:spcBef>
                <a:spcPts val="0"/>
              </a:spcBef>
              <a:spcAft>
                <a:spcPts val="600"/>
              </a:spcAft>
              <a:defRPr sz="1200" b="1">
                <a:solidFill>
                  <a:srgbClr val="102C57"/>
                </a:solidFill>
                <a:latin typeface="Segoe UI"/>
              </a:defRPr>
            </a:pPr>
            <a:r>
              <a:t>GAP 01: Memoryless vs. Over-Smoothed Trajectory Dilemma</a:t>
            </a:r>
          </a:p>
          <a:p>
            <a:pPr>
              <a:spcBef>
                <a:spcPts val="0"/>
              </a:spcBef>
              <a:spcAft>
                <a:spcPts val="400"/>
              </a:spcAft>
              <a:defRPr sz="1019" b="0">
                <a:solidFill>
                  <a:srgbClr val="212529"/>
                </a:solidFill>
                <a:latin typeface="Segoe UI"/>
              </a:defRPr>
            </a:pPr>
            <a:r>
              <a:t>• Stateless RAG: Discards longitudinal history entirely, forcing repetitive query reformulations.</a:t>
            </a:r>
          </a:p>
          <a:p>
            <a:pPr>
              <a:spcBef>
                <a:spcPts val="0"/>
              </a:spcBef>
              <a:spcAft>
                <a:spcPts val="400"/>
              </a:spcAft>
              <a:defRPr sz="1019" b="0">
                <a:solidFill>
                  <a:srgbClr val="212529"/>
                </a:solidFill>
                <a:latin typeface="Segoe UI"/>
              </a:defRPr>
            </a:pPr>
            <a:r>
              <a:t>• Riemannian Manifolds (GDT): Enforces continuous exponential smoothing, lagging behind acute discrete bifurcations.</a:t>
            </a:r>
          </a:p>
        </p:txBody>
      </p:sp>
      <p:sp>
        <p:nvSpPr>
          <p:cNvPr id="7" name="Rounded Rectangle 6"/>
          <p:cNvSpPr/>
          <p:nvPr/>
        </p:nvSpPr>
        <p:spPr>
          <a:xfrm>
            <a:off x="6245352" y="2267712"/>
            <a:ext cx="5394960" cy="196596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2432304"/>
            <a:ext cx="5029200" cy="1636776"/>
          </a:xfrm>
          <a:prstGeom prst="rect">
            <a:avLst/>
          </a:prstGeom>
          <a:noFill/>
        </p:spPr>
        <p:txBody>
          <a:bodyPr wrap="square" lIns="0" tIns="0" rIns="0" bIns="0">
            <a:spAutoFit/>
          </a:bodyPr>
          <a:lstStyle/>
          <a:p>
            <a:pPr>
              <a:spcBef>
                <a:spcPts val="0"/>
              </a:spcBef>
              <a:spcAft>
                <a:spcPts val="600"/>
              </a:spcAft>
              <a:defRPr sz="1200" b="1">
                <a:solidFill>
                  <a:srgbClr val="8C1D18"/>
                </a:solidFill>
                <a:latin typeface="Segoe UI"/>
              </a:defRPr>
            </a:pPr>
            <a:r>
              <a:t>GAP 02: Neglect of High-Frequency Telemetry Waveforms</a:t>
            </a:r>
          </a:p>
          <a:p>
            <a:pPr>
              <a:spcBef>
                <a:spcPts val="0"/>
              </a:spcBef>
              <a:spcAft>
                <a:spcPts val="400"/>
              </a:spcAft>
              <a:defRPr sz="1019" b="0">
                <a:solidFill>
                  <a:srgbClr val="212529"/>
                </a:solidFill>
                <a:latin typeface="Segoe UI"/>
              </a:defRPr>
            </a:pPr>
            <a:r>
              <a:t>• Text/Code Bias: Clinical RAG indexes static narratives, completely ignoring 125–250 Hz physiological telemetry.</a:t>
            </a:r>
          </a:p>
          <a:p>
            <a:pPr>
              <a:spcBef>
                <a:spcPts val="0"/>
              </a:spcBef>
              <a:spcAft>
                <a:spcPts val="400"/>
              </a:spcAft>
              <a:defRPr sz="1019" b="0">
                <a:solidFill>
                  <a:srgbClr val="212529"/>
                </a:solidFill>
                <a:latin typeface="Segoe UI"/>
              </a:defRPr>
            </a:pPr>
            <a:r>
              <a:t>• Missed Early Signals: Waveforms carry the earliest markers of instability (e.g., S1Q3T3 RV strain in pulmonary embolism).</a:t>
            </a:r>
          </a:p>
        </p:txBody>
      </p:sp>
      <p:sp>
        <p:nvSpPr>
          <p:cNvPr id="9" name="Rounded Rectangle 8"/>
          <p:cNvSpPr/>
          <p:nvPr/>
        </p:nvSpPr>
        <p:spPr>
          <a:xfrm>
            <a:off x="548640" y="4416552"/>
            <a:ext cx="5394960" cy="196596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581144"/>
            <a:ext cx="5029200" cy="1636776"/>
          </a:xfrm>
          <a:prstGeom prst="rect">
            <a:avLst/>
          </a:prstGeom>
          <a:noFill/>
        </p:spPr>
        <p:txBody>
          <a:bodyPr wrap="square" lIns="0" tIns="0" rIns="0" bIns="0">
            <a:spAutoFit/>
          </a:bodyPr>
          <a:lstStyle/>
          <a:p>
            <a:pPr>
              <a:spcBef>
                <a:spcPts val="0"/>
              </a:spcBef>
              <a:spcAft>
                <a:spcPts val="600"/>
              </a:spcAft>
              <a:defRPr sz="1200" b="1">
                <a:solidFill>
                  <a:srgbClr val="102C57"/>
                </a:solidFill>
                <a:latin typeface="Segoe UI"/>
              </a:defRPr>
            </a:pPr>
            <a:r>
              <a:t>GAP 03: Unbounded Context Contamination &amp; Mental Fatigue</a:t>
            </a:r>
          </a:p>
          <a:p>
            <a:pPr>
              <a:spcBef>
                <a:spcPts val="0"/>
              </a:spcBef>
              <a:spcAft>
                <a:spcPts val="400"/>
              </a:spcAft>
              <a:defRPr sz="1019" b="0">
                <a:solidFill>
                  <a:srgbClr val="212529"/>
                </a:solidFill>
                <a:latin typeface="Segoe UI"/>
              </a:defRPr>
            </a:pPr>
            <a:r>
              <a:t>• Context Poisoning: Obsolete hypotheses pollute prompts during pivots, inducing confirmation bias.</a:t>
            </a:r>
          </a:p>
          <a:p>
            <a:pPr>
              <a:spcBef>
                <a:spcPts val="0"/>
              </a:spcBef>
              <a:spcAft>
                <a:spcPts val="400"/>
              </a:spcAft>
              <a:defRPr sz="1019" b="0">
                <a:solidFill>
                  <a:srgbClr val="212529"/>
                </a:solidFill>
                <a:latin typeface="Segoe UI"/>
              </a:defRPr>
            </a:pPr>
            <a:r>
              <a:t>• Unbounded Speculation: Prefetchers push uncurated records, breaching human working memory limits (Miller's 7±2).</a:t>
            </a:r>
          </a:p>
        </p:txBody>
      </p:sp>
      <p:sp>
        <p:nvSpPr>
          <p:cNvPr id="11" name="Rounded Rectangle 10"/>
          <p:cNvSpPr/>
          <p:nvPr/>
        </p:nvSpPr>
        <p:spPr>
          <a:xfrm>
            <a:off x="6245352" y="4416552"/>
            <a:ext cx="5394960" cy="196596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4581144"/>
            <a:ext cx="5029200" cy="1636776"/>
          </a:xfrm>
          <a:prstGeom prst="rect">
            <a:avLst/>
          </a:prstGeom>
          <a:noFill/>
        </p:spPr>
        <p:txBody>
          <a:bodyPr wrap="square" lIns="0" tIns="0" rIns="0" bIns="0">
            <a:spAutoFit/>
          </a:bodyPr>
          <a:lstStyle/>
          <a:p>
            <a:pPr>
              <a:spcBef>
                <a:spcPts val="0"/>
              </a:spcBef>
              <a:spcAft>
                <a:spcPts val="600"/>
              </a:spcAft>
              <a:defRPr sz="1200" b="1">
                <a:solidFill>
                  <a:srgbClr val="146C43"/>
                </a:solidFill>
                <a:latin typeface="Segoe UI"/>
              </a:defRPr>
            </a:pPr>
            <a:r>
              <a:t>GAP 04: Micro-Latency to Macro-Congestion Disconnect</a:t>
            </a:r>
          </a:p>
          <a:p>
            <a:pPr>
              <a:spcBef>
                <a:spcPts val="0"/>
              </a:spcBef>
              <a:spcAft>
                <a:spcPts val="400"/>
              </a:spcAft>
              <a:defRPr sz="1019" b="0">
                <a:solidFill>
                  <a:srgbClr val="212529"/>
                </a:solidFill>
                <a:latin typeface="Segoe UI"/>
              </a:defRPr>
            </a:pPr>
            <a:r>
              <a:t>• Isolated Benchmarks: Models are evaluated purely on algorithm latency (ms) without clinical queueing context.</a:t>
            </a:r>
          </a:p>
          <a:p>
            <a:pPr>
              <a:spcBef>
                <a:spcPts val="0"/>
              </a:spcBef>
              <a:spcAft>
                <a:spcPts val="400"/>
              </a:spcAft>
              <a:defRPr sz="1019" b="0">
                <a:solidFill>
                  <a:srgbClr val="212529"/>
                </a:solidFill>
                <a:latin typeface="Segoe UI"/>
              </a:defRPr>
            </a:pPr>
            <a:r>
              <a:t>• Super-Linear Queue Physics: Near saturation (ρ &gt; 0.90), 25s task savings prevents hours of department-wide boarding.</a:t>
            </a:r>
          </a:p>
        </p:txBody>
      </p:sp>
    </p:spTree>
    <p:extLst>
      <p:ext uri="{BB962C8B-B14F-4D97-AF65-F5344CB8AC3E}">
        <p14:creationId xmlns:p14="http://schemas.microsoft.com/office/powerpoint/2010/main" val="242881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D37C9A-6B9A-B4C0-E455-75D2523F0FF4}"/>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SYSTEM ARCHITECTURE</a:t>
            </a:r>
          </a:p>
          <a:p>
            <a:pPr>
              <a:defRPr sz="2000" b="1">
                <a:solidFill>
                  <a:srgbClr val="102C57"/>
                </a:solidFill>
                <a:latin typeface="Segoe UI"/>
              </a:defRPr>
            </a:pPr>
            <a:r>
              <a:t>6. PROPOSED METHODOLOGY: The Spectral Diagnostic Trajectories (SDT) Framework</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267712"/>
            <a:ext cx="2084831"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32304"/>
            <a:ext cx="1865375" cy="3831336"/>
          </a:xfrm>
          <a:prstGeom prst="rect">
            <a:avLst/>
          </a:prstGeom>
          <a:noFill/>
        </p:spPr>
        <p:txBody>
          <a:bodyPr wrap="square" lIns="0" tIns="0" rIns="0" bIns="0">
            <a:spAutoFit/>
          </a:bodyPr>
          <a:lstStyle/>
          <a:p>
            <a:pPr>
              <a:spcBef>
                <a:spcPts val="0"/>
              </a:spcBef>
              <a:spcAft>
                <a:spcPts val="800"/>
              </a:spcAft>
              <a:defRPr sz="1150" b="1">
                <a:solidFill>
                  <a:srgbClr val="102C57"/>
                </a:solidFill>
                <a:latin typeface="Segoe UI"/>
              </a:defRPr>
            </a:pPr>
            <a:r>
              <a:t>1. Multi-Modal Ingestion</a:t>
            </a:r>
          </a:p>
          <a:p>
            <a:pPr>
              <a:spcBef>
                <a:spcPts val="0"/>
              </a:spcBef>
              <a:spcAft>
                <a:spcPts val="500"/>
              </a:spcAft>
              <a:defRPr sz="950" b="0">
                <a:solidFill>
                  <a:srgbClr val="212529"/>
                </a:solidFill>
                <a:latin typeface="Segoe UI"/>
              </a:defRPr>
            </a:pPr>
            <a:r>
              <a:t>• Clinical Notes: LayerNorm ClinicalBERT (d=768→128)</a:t>
            </a:r>
          </a:p>
          <a:p>
            <a:pPr>
              <a:spcBef>
                <a:spcPts val="0"/>
              </a:spcBef>
              <a:spcAft>
                <a:spcPts val="500"/>
              </a:spcAft>
              <a:defRPr sz="950" b="0">
                <a:solidFill>
                  <a:srgbClr val="212529"/>
                </a:solidFill>
                <a:latin typeface="Segoe UI"/>
              </a:defRPr>
            </a:pPr>
            <a:r>
              <a:t>• Waveforms: 125 Hz continuous streams via linear-time Mamba-2 (d=128, N=64)</a:t>
            </a:r>
          </a:p>
          <a:p>
            <a:pPr>
              <a:spcBef>
                <a:spcPts val="0"/>
              </a:spcBef>
              <a:spcAft>
                <a:spcPts val="500"/>
              </a:spcAft>
              <a:defRPr sz="950" b="0">
                <a:solidFill>
                  <a:srgbClr val="212529"/>
                </a:solidFill>
                <a:latin typeface="Segoe UI"/>
              </a:defRPr>
            </a:pPr>
            <a:r>
              <a:t>• Discrete Events: Lab flowsheets &amp; diagnostic codes</a:t>
            </a:r>
          </a:p>
        </p:txBody>
      </p:sp>
      <p:sp>
        <p:nvSpPr>
          <p:cNvPr id="7" name="Rounded Rectangle 6"/>
          <p:cNvSpPr/>
          <p:nvPr/>
        </p:nvSpPr>
        <p:spPr>
          <a:xfrm>
            <a:off x="2798063" y="2267712"/>
            <a:ext cx="2084831"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07791" y="2432304"/>
            <a:ext cx="1865375" cy="3831336"/>
          </a:xfrm>
          <a:prstGeom prst="rect">
            <a:avLst/>
          </a:prstGeom>
          <a:noFill/>
        </p:spPr>
        <p:txBody>
          <a:bodyPr wrap="square" lIns="0" tIns="0" rIns="0" bIns="0">
            <a:spAutoFit/>
          </a:bodyPr>
          <a:lstStyle/>
          <a:p>
            <a:pPr>
              <a:spcBef>
                <a:spcPts val="0"/>
              </a:spcBef>
              <a:spcAft>
                <a:spcPts val="800"/>
              </a:spcAft>
              <a:defRPr sz="1150" b="1">
                <a:solidFill>
                  <a:srgbClr val="102C57"/>
                </a:solidFill>
                <a:latin typeface="Segoe UI"/>
              </a:defRPr>
            </a:pPr>
            <a:r>
              <a:t>2. Dynamic Hypergraph</a:t>
            </a:r>
          </a:p>
          <a:p>
            <a:pPr>
              <a:spcBef>
                <a:spcPts val="0"/>
              </a:spcBef>
              <a:spcAft>
                <a:spcPts val="500"/>
              </a:spcAft>
              <a:defRPr sz="950" b="0">
                <a:solidFill>
                  <a:srgbClr val="212529"/>
                </a:solidFill>
                <a:latin typeface="Segoe UI"/>
              </a:defRPr>
            </a:pPr>
            <a:r>
              <a:t>• State Representation: Polyadic hyperedges e = (v_diag, v_wave, v_lab)</a:t>
            </a:r>
          </a:p>
          <a:p>
            <a:pPr>
              <a:spcBef>
                <a:spcPts val="0"/>
              </a:spcBef>
              <a:spcAft>
                <a:spcPts val="500"/>
              </a:spcAft>
              <a:defRPr sz="950" b="0">
                <a:solidFill>
                  <a:srgbClr val="212529"/>
                </a:solidFill>
                <a:latin typeface="Segoe UI"/>
              </a:defRPr>
            </a:pPr>
            <a:r>
              <a:t>• Composite Weight: Semantic + Temporal (e^-λΔt) + Severity</a:t>
            </a:r>
          </a:p>
          <a:p>
            <a:pPr>
              <a:spcBef>
                <a:spcPts val="0"/>
              </a:spcBef>
              <a:spcAft>
                <a:spcPts val="500"/>
              </a:spcAft>
              <a:defRPr sz="950" b="0">
                <a:solidFill>
                  <a:srgbClr val="212529"/>
                </a:solidFill>
                <a:latin typeface="Segoe UI"/>
              </a:defRPr>
            </a:pPr>
            <a:r>
              <a:t>• Laplacian: Lt = I - Dv^-1/2 At Dv^-1/2</a:t>
            </a:r>
          </a:p>
        </p:txBody>
      </p:sp>
      <p:sp>
        <p:nvSpPr>
          <p:cNvPr id="9" name="Rounded Rectangle 8"/>
          <p:cNvSpPr/>
          <p:nvPr/>
        </p:nvSpPr>
        <p:spPr>
          <a:xfrm>
            <a:off x="5047486" y="2267712"/>
            <a:ext cx="2084831" cy="4160520"/>
          </a:xfrm>
          <a:prstGeom prst="roundRect">
            <a:avLst/>
          </a:prstGeom>
          <a:solidFill>
            <a:srgbClr val="EBF3FA"/>
          </a:solidFill>
          <a:ln w="1270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57214" y="2432304"/>
            <a:ext cx="1865375" cy="3831336"/>
          </a:xfrm>
          <a:prstGeom prst="rect">
            <a:avLst/>
          </a:prstGeom>
          <a:noFill/>
        </p:spPr>
        <p:txBody>
          <a:bodyPr wrap="square" lIns="0" tIns="0" rIns="0" bIns="0">
            <a:spAutoFit/>
          </a:bodyPr>
          <a:lstStyle/>
          <a:p>
            <a:pPr>
              <a:spcBef>
                <a:spcPts val="0"/>
              </a:spcBef>
              <a:spcAft>
                <a:spcPts val="800"/>
              </a:spcAft>
              <a:defRPr sz="1150" b="1">
                <a:solidFill>
                  <a:srgbClr val="8C1D18"/>
                </a:solidFill>
                <a:latin typeface="Segoe UI"/>
              </a:defRPr>
            </a:pPr>
            <a:r>
              <a:t>3. Pivot Detection</a:t>
            </a:r>
          </a:p>
          <a:p>
            <a:pPr>
              <a:spcBef>
                <a:spcPts val="0"/>
              </a:spcBef>
              <a:spcAft>
                <a:spcPts val="500"/>
              </a:spcAft>
              <a:defRPr sz="950" b="0">
                <a:solidFill>
                  <a:srgbClr val="212529"/>
                </a:solidFill>
                <a:latin typeface="Segoe UI"/>
              </a:defRPr>
            </a:pPr>
            <a:r>
              <a:t>• Linear-Time O(|Et|): Track Fiedler value λ2(Lt) via warm-started Lanczos</a:t>
            </a:r>
          </a:p>
          <a:p>
            <a:pPr>
              <a:spcBef>
                <a:spcPts val="0"/>
              </a:spcBef>
              <a:spcAft>
                <a:spcPts val="500"/>
              </a:spcAft>
              <a:defRPr sz="950" b="0">
                <a:solidFill>
                  <a:srgbClr val="212529"/>
                </a:solidFill>
                <a:latin typeface="Segoe UI"/>
              </a:defRPr>
            </a:pPr>
            <a:r>
              <a:t>• Pivot Trigger: Spectral gap drop Δλ2(t) &gt; τ_pivot = 0.15</a:t>
            </a:r>
          </a:p>
          <a:p>
            <a:pPr>
              <a:spcBef>
                <a:spcPts val="0"/>
              </a:spcBef>
              <a:spcAft>
                <a:spcPts val="500"/>
              </a:spcAft>
              <a:defRPr sz="950" b="0">
                <a:solidFill>
                  <a:srgbClr val="212529"/>
                </a:solidFill>
                <a:latin typeface="Segoe UI"/>
              </a:defRPr>
            </a:pPr>
            <a:r>
              <a:t>• Real-Time: Sub-15ms detection of acute diagnostic shifts</a:t>
            </a:r>
          </a:p>
        </p:txBody>
      </p:sp>
      <p:sp>
        <p:nvSpPr>
          <p:cNvPr id="11" name="Rounded Rectangle 10"/>
          <p:cNvSpPr/>
          <p:nvPr/>
        </p:nvSpPr>
        <p:spPr>
          <a:xfrm>
            <a:off x="7296909" y="2267712"/>
            <a:ext cx="2084831" cy="4160520"/>
          </a:xfrm>
          <a:prstGeom prst="roundRect">
            <a:avLst/>
          </a:prstGeom>
          <a:solidFill>
            <a:srgbClr val="EBF3FA"/>
          </a:solidFill>
          <a:ln w="1270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37" y="2432304"/>
            <a:ext cx="1865375" cy="3831336"/>
          </a:xfrm>
          <a:prstGeom prst="rect">
            <a:avLst/>
          </a:prstGeom>
          <a:noFill/>
        </p:spPr>
        <p:txBody>
          <a:bodyPr wrap="square" lIns="0" tIns="0" rIns="0" bIns="0">
            <a:spAutoFit/>
          </a:bodyPr>
          <a:lstStyle/>
          <a:p>
            <a:pPr>
              <a:spcBef>
                <a:spcPts val="0"/>
              </a:spcBef>
              <a:spcAft>
                <a:spcPts val="800"/>
              </a:spcAft>
              <a:defRPr sz="1150" b="1">
                <a:solidFill>
                  <a:srgbClr val="8C1D18"/>
                </a:solidFill>
                <a:latin typeface="Segoe UI"/>
              </a:defRPr>
            </a:pPr>
            <a:r>
              <a:t>4. Cheeger Decoupling</a:t>
            </a:r>
          </a:p>
          <a:p>
            <a:pPr>
              <a:spcBef>
                <a:spcPts val="0"/>
              </a:spcBef>
              <a:spcAft>
                <a:spcPts val="500"/>
              </a:spcAft>
              <a:defRPr sz="950" b="0">
                <a:solidFill>
                  <a:srgbClr val="212529"/>
                </a:solidFill>
                <a:latin typeface="Segoe UI"/>
              </a:defRPr>
            </a:pPr>
            <a:r>
              <a:t>• Chebyshev Filter: Degree K=3 polynomial smoothing</a:t>
            </a:r>
          </a:p>
          <a:p>
            <a:pPr>
              <a:spcBef>
                <a:spcPts val="0"/>
              </a:spcBef>
              <a:spcAft>
                <a:spcPts val="500"/>
              </a:spcAft>
              <a:defRPr sz="950" b="0">
                <a:solidFill>
                  <a:srgbClr val="212529"/>
                </a:solidFill>
                <a:latin typeface="Segoe UI"/>
              </a:defRPr>
            </a:pPr>
            <a:r>
              <a:t>• Cheeger Bisection: Partition into V_stale vs. V_active</a:t>
            </a:r>
          </a:p>
          <a:p>
            <a:pPr>
              <a:spcBef>
                <a:spcPts val="0"/>
              </a:spcBef>
              <a:spcAft>
                <a:spcPts val="500"/>
              </a:spcAft>
              <a:defRPr sz="950" b="0">
                <a:solidFill>
                  <a:srgbClr val="212529"/>
                </a:solidFill>
                <a:latin typeface="Segoe UI"/>
              </a:defRPr>
            </a:pPr>
            <a:r>
              <a:t>• Theorem 1 Bound: Provable leak bound P_leak ≤ √(2τ_pivot) = 0.548</a:t>
            </a:r>
          </a:p>
        </p:txBody>
      </p:sp>
      <p:sp>
        <p:nvSpPr>
          <p:cNvPr id="13" name="Rounded Rectangle 12"/>
          <p:cNvSpPr/>
          <p:nvPr/>
        </p:nvSpPr>
        <p:spPr>
          <a:xfrm>
            <a:off x="9546332" y="2267712"/>
            <a:ext cx="2084831"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56060" y="2432304"/>
            <a:ext cx="1865375" cy="3831336"/>
          </a:xfrm>
          <a:prstGeom prst="rect">
            <a:avLst/>
          </a:prstGeom>
          <a:noFill/>
        </p:spPr>
        <p:txBody>
          <a:bodyPr wrap="square" lIns="0" tIns="0" rIns="0" bIns="0">
            <a:spAutoFit/>
          </a:bodyPr>
          <a:lstStyle/>
          <a:p>
            <a:pPr>
              <a:spcBef>
                <a:spcPts val="0"/>
              </a:spcBef>
              <a:spcAft>
                <a:spcPts val="800"/>
              </a:spcAft>
              <a:defRPr sz="1150" b="1">
                <a:solidFill>
                  <a:srgbClr val="146C43"/>
                </a:solidFill>
                <a:latin typeface="Segoe UI"/>
              </a:defRPr>
            </a:pPr>
            <a:r>
              <a:t>5. Cognitive Prefetch</a:t>
            </a:r>
          </a:p>
          <a:p>
            <a:pPr>
              <a:spcBef>
                <a:spcPts val="0"/>
              </a:spcBef>
              <a:spcAft>
                <a:spcPts val="500"/>
              </a:spcAft>
              <a:defRPr sz="950" b="0">
                <a:solidFill>
                  <a:srgbClr val="212529"/>
                </a:solidFill>
                <a:latin typeface="Segoe UI"/>
              </a:defRPr>
            </a:pPr>
            <a:r>
              <a:t>• Biased Random Walk: Prospective traversal on global graph (N=546k)</a:t>
            </a:r>
          </a:p>
          <a:p>
            <a:pPr>
              <a:spcBef>
                <a:spcPts val="0"/>
              </a:spcBef>
              <a:spcAft>
                <a:spcPts val="500"/>
              </a:spcAft>
              <a:defRPr sz="950" b="0">
                <a:solidFill>
                  <a:srgbClr val="212529"/>
                </a:solidFill>
                <a:latin typeface="Segoe UI"/>
              </a:defRPr>
            </a:pPr>
            <a:r>
              <a:t>• 0/1 Knapsack: Bounded by Sweller capacity (Cmax ≤ 7.0 bits)</a:t>
            </a:r>
          </a:p>
          <a:p>
            <a:pPr>
              <a:spcBef>
                <a:spcPts val="0"/>
              </a:spcBef>
              <a:spcAft>
                <a:spcPts val="500"/>
              </a:spcAft>
              <a:defRPr sz="950" b="0">
                <a:solidFill>
                  <a:srgbClr val="212529"/>
                </a:solidFill>
                <a:latin typeface="Segoe UI"/>
              </a:defRPr>
            </a:pPr>
            <a:r>
              <a:t>• M/M/c Queue Coupling: Compounds into macro wait reduction</a:t>
            </a:r>
          </a:p>
        </p:txBody>
      </p:sp>
    </p:spTree>
    <p:extLst>
      <p:ext uri="{BB962C8B-B14F-4D97-AF65-F5344CB8AC3E}">
        <p14:creationId xmlns:p14="http://schemas.microsoft.com/office/powerpoint/2010/main" val="2403536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54BA57-3CA7-5BBC-87FE-F7E2605636DB}"/>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EXPERIMENTAL EVALUATION</a:t>
            </a:r>
          </a:p>
          <a:p>
            <a:pPr>
              <a:defRPr sz="2000" b="1">
                <a:solidFill>
                  <a:srgbClr val="102C57"/>
                </a:solidFill>
                <a:latin typeface="Segoe UI"/>
              </a:defRPr>
            </a:pPr>
            <a:r>
              <a:t>7. RESULTS &amp; DISCUSSION: Primary Retrieval Outcomes on 1,000 Vignettes</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2267712"/>
          <a:ext cx="6217920" cy="4160520"/>
        </p:xfrm>
        <a:graphic>
          <a:graphicData uri="http://schemas.openxmlformats.org/drawingml/2006/table">
            <a:tbl>
              <a:tblPr firstRow="1" bandRow="1">
                <a:tableStyleId>{5C22544A-7EE6-4342-B048-85BDC9FD1C3A}</a:tableStyleId>
              </a:tblPr>
              <a:tblGrid>
                <a:gridCol w="1371600"/>
                <a:gridCol w="868680"/>
                <a:gridCol w="777240"/>
                <a:gridCol w="777240"/>
                <a:gridCol w="731520"/>
                <a:gridCol w="868680"/>
                <a:gridCol w="822960"/>
              </a:tblGrid>
              <a:tr h="416052">
                <a:tc>
                  <a:txBody>
                    <a:bodyPr/>
                    <a:lstStyle/>
                    <a:p>
                      <a:pPr algn="ctr">
                        <a:defRPr sz="850" b="1">
                          <a:solidFill>
                            <a:srgbClr val="FFFFFF"/>
                          </a:solidFill>
                          <a:latin typeface="Segoe UI"/>
                        </a:defRPr>
                      </a:pPr>
                      <a:r>
                        <a:t>Condition</a:t>
                      </a:r>
                    </a:p>
                  </a:txBody>
                  <a:tcPr>
                    <a:solidFill>
                      <a:srgbClr val="102C57"/>
                    </a:solidFill>
                  </a:tcPr>
                </a:tc>
                <a:tc>
                  <a:txBody>
                    <a:bodyPr/>
                    <a:lstStyle/>
                    <a:p>
                      <a:pPr algn="ctr">
                        <a:defRPr sz="850" b="1">
                          <a:solidFill>
                            <a:srgbClr val="FFFFFF"/>
                          </a:solidFill>
                          <a:latin typeface="Segoe UI"/>
                        </a:defRPr>
                      </a:pPr>
                      <a:r>
                        <a:t>TTCI (s) ↓</a:t>
                      </a:r>
                    </a:p>
                  </a:txBody>
                  <a:tcPr>
                    <a:solidFill>
                      <a:srgbClr val="102C57"/>
                    </a:solidFill>
                  </a:tcPr>
                </a:tc>
                <a:tc>
                  <a:txBody>
                    <a:bodyPr/>
                    <a:lstStyle/>
                    <a:p>
                      <a:pPr algn="ctr">
                        <a:defRPr sz="850" b="1">
                          <a:solidFill>
                            <a:srgbClr val="FFFFFF"/>
                          </a:solidFill>
                          <a:latin typeface="Segoe UI"/>
                        </a:defRPr>
                      </a:pPr>
                      <a:r>
                        <a:t>Accuracy ↑</a:t>
                      </a:r>
                    </a:p>
                  </a:txBody>
                  <a:tcPr>
                    <a:solidFill>
                      <a:srgbClr val="102C57"/>
                    </a:solidFill>
                  </a:tcPr>
                </a:tc>
                <a:tc>
                  <a:txBody>
                    <a:bodyPr/>
                    <a:lstStyle/>
                    <a:p>
                      <a:pPr algn="ctr">
                        <a:defRPr sz="850" b="1">
                          <a:solidFill>
                            <a:srgbClr val="FFFFFF"/>
                          </a:solidFill>
                          <a:latin typeface="Segoe UI"/>
                        </a:defRPr>
                      </a:pPr>
                      <a:r>
                        <a:t>Recall@5 ↑</a:t>
                      </a:r>
                    </a:p>
                  </a:txBody>
                  <a:tcPr>
                    <a:solidFill>
                      <a:srgbClr val="102C57"/>
                    </a:solidFill>
                  </a:tcPr>
                </a:tc>
                <a:tc>
                  <a:txBody>
                    <a:bodyPr/>
                    <a:lstStyle/>
                    <a:p>
                      <a:pPr algn="ctr">
                        <a:defRPr sz="850" b="1">
                          <a:solidFill>
                            <a:srgbClr val="FFFFFF"/>
                          </a:solidFill>
                          <a:latin typeface="Segoe UI"/>
                        </a:defRPr>
                      </a:pPr>
                      <a:r>
                        <a:t>MRR ↑</a:t>
                      </a:r>
                    </a:p>
                  </a:txBody>
                  <a:tcPr>
                    <a:solidFill>
                      <a:srgbClr val="102C57"/>
                    </a:solidFill>
                  </a:tcPr>
                </a:tc>
                <a:tc>
                  <a:txBody>
                    <a:bodyPr/>
                    <a:lstStyle/>
                    <a:p>
                      <a:pPr algn="ctr">
                        <a:defRPr sz="850" b="1">
                          <a:solidFill>
                            <a:srgbClr val="FFFFFF"/>
                          </a:solidFill>
                          <a:latin typeface="Segoe UI"/>
                        </a:defRPr>
                      </a:pPr>
                      <a:r>
                        <a:t>Cog Load ↓</a:t>
                      </a:r>
                    </a:p>
                  </a:txBody>
                  <a:tcPr>
                    <a:solidFill>
                      <a:srgbClr val="102C57"/>
                    </a:solidFill>
                  </a:tcPr>
                </a:tc>
                <a:tc>
                  <a:txBody>
                    <a:bodyPr/>
                    <a:lstStyle/>
                    <a:p>
                      <a:pPr algn="ctr">
                        <a:defRPr sz="850" b="1">
                          <a:solidFill>
                            <a:srgbClr val="FFFFFF"/>
                          </a:solidFill>
                          <a:latin typeface="Segoe UI"/>
                        </a:defRPr>
                      </a:pPr>
                      <a:r>
                        <a:t>Latency (ms) ↓</a:t>
                      </a:r>
                    </a:p>
                  </a:txBody>
                  <a:tcPr>
                    <a:solidFill>
                      <a:srgbClr val="102C57"/>
                    </a:solidFill>
                  </a:tcPr>
                </a:tc>
              </a:tr>
              <a:tr h="416052">
                <a:tc>
                  <a:txBody>
                    <a:bodyPr/>
                    <a:lstStyle/>
                    <a:p>
                      <a:pPr algn="l">
                        <a:defRPr sz="850" b="0">
                          <a:solidFill>
                            <a:srgbClr val="212529"/>
                          </a:solidFill>
                          <a:latin typeface="Segoe UI"/>
                        </a:defRPr>
                      </a:pPr>
                      <a:r>
                        <a:t>Control (TF-IDF)</a:t>
                      </a:r>
                    </a:p>
                  </a:txBody>
                  <a:tcPr>
                    <a:solidFill>
                      <a:srgbClr val="FFFFFF"/>
                    </a:solidFill>
                  </a:tcPr>
                </a:tc>
                <a:tc>
                  <a:txBody>
                    <a:bodyPr/>
                    <a:lstStyle/>
                    <a:p>
                      <a:pPr algn="ctr">
                        <a:defRPr sz="850" b="0">
                          <a:solidFill>
                            <a:srgbClr val="212529"/>
                          </a:solidFill>
                          <a:latin typeface="Segoe UI"/>
                        </a:defRPr>
                      </a:pPr>
                      <a:r>
                        <a:t>88.52 ± 2.01</a:t>
                      </a:r>
                    </a:p>
                  </a:txBody>
                  <a:tcPr>
                    <a:solidFill>
                      <a:srgbClr val="FFFFFF"/>
                    </a:solidFill>
                  </a:tcPr>
                </a:tc>
                <a:tc>
                  <a:txBody>
                    <a:bodyPr/>
                    <a:lstStyle/>
                    <a:p>
                      <a:pPr algn="ctr">
                        <a:defRPr sz="850" b="0">
                          <a:solidFill>
                            <a:srgbClr val="212529"/>
                          </a:solidFill>
                          <a:latin typeface="Segoe UI"/>
                        </a:defRPr>
                      </a:pPr>
                      <a:r>
                        <a:t>86.8%</a:t>
                      </a:r>
                    </a:p>
                  </a:txBody>
                  <a:tcPr>
                    <a:solidFill>
                      <a:srgbClr val="FFFFFF"/>
                    </a:solidFill>
                  </a:tcPr>
                </a:tc>
                <a:tc>
                  <a:txBody>
                    <a:bodyPr/>
                    <a:lstStyle/>
                    <a:p>
                      <a:pPr algn="ctr">
                        <a:defRPr sz="850" b="0">
                          <a:solidFill>
                            <a:srgbClr val="212529"/>
                          </a:solidFill>
                          <a:latin typeface="Segoe UI"/>
                        </a:defRPr>
                      </a:pPr>
                      <a:r>
                        <a:t>0.682</a:t>
                      </a:r>
                    </a:p>
                  </a:txBody>
                  <a:tcPr>
                    <a:solidFill>
                      <a:srgbClr val="FFFFFF"/>
                    </a:solidFill>
                  </a:tcPr>
                </a:tc>
                <a:tc>
                  <a:txBody>
                    <a:bodyPr/>
                    <a:lstStyle/>
                    <a:p>
                      <a:pPr algn="ctr">
                        <a:defRPr sz="850" b="0">
                          <a:solidFill>
                            <a:srgbClr val="212529"/>
                          </a:solidFill>
                          <a:latin typeface="Segoe UI"/>
                        </a:defRPr>
                      </a:pPr>
                      <a:r>
                        <a:t>0.541</a:t>
                      </a:r>
                    </a:p>
                  </a:txBody>
                  <a:tcPr>
                    <a:solidFill>
                      <a:srgbClr val="FFFFFF"/>
                    </a:solidFill>
                  </a:tcPr>
                </a:tc>
                <a:tc>
                  <a:txBody>
                    <a:bodyPr/>
                    <a:lstStyle/>
                    <a:p>
                      <a:pPr algn="ctr">
                        <a:defRPr sz="850" b="0">
                          <a:solidFill>
                            <a:srgbClr val="212529"/>
                          </a:solidFill>
                          <a:latin typeface="Segoe UI"/>
                        </a:defRPr>
                      </a:pPr>
                      <a:r>
                        <a:t>51.60 ± 0.42</a:t>
                      </a:r>
                    </a:p>
                  </a:txBody>
                  <a:tcPr>
                    <a:solidFill>
                      <a:srgbClr val="FFFFFF"/>
                    </a:solidFill>
                  </a:tcPr>
                </a:tc>
                <a:tc>
                  <a:txBody>
                    <a:bodyPr/>
                    <a:lstStyle/>
                    <a:p>
                      <a:pPr algn="ctr">
                        <a:defRPr sz="850" b="0">
                          <a:solidFill>
                            <a:srgbClr val="212529"/>
                          </a:solidFill>
                          <a:latin typeface="Segoe UI"/>
                        </a:defRPr>
                      </a:pPr>
                      <a:r>
                        <a:t>124.52 ± 0.28</a:t>
                      </a:r>
                    </a:p>
                  </a:txBody>
                  <a:tcPr>
                    <a:solidFill>
                      <a:srgbClr val="FFFFFF"/>
                    </a:solidFill>
                  </a:tcPr>
                </a:tc>
              </a:tr>
              <a:tr h="416052">
                <a:tc>
                  <a:txBody>
                    <a:bodyPr/>
                    <a:lstStyle/>
                    <a:p>
                      <a:pPr algn="l">
                        <a:defRPr sz="850" b="0">
                          <a:solidFill>
                            <a:srgbClr val="212529"/>
                          </a:solidFill>
                          <a:latin typeface="Segoe UI"/>
                        </a:defRPr>
                      </a:pPr>
                      <a:r>
                        <a:t>BM25</a:t>
                      </a:r>
                    </a:p>
                  </a:txBody>
                  <a:tcPr>
                    <a:solidFill>
                      <a:srgbClr val="F8FAFD"/>
                    </a:solidFill>
                  </a:tcPr>
                </a:tc>
                <a:tc>
                  <a:txBody>
                    <a:bodyPr/>
                    <a:lstStyle/>
                    <a:p>
                      <a:pPr algn="ctr">
                        <a:defRPr sz="850" b="0">
                          <a:solidFill>
                            <a:srgbClr val="212529"/>
                          </a:solidFill>
                          <a:latin typeface="Segoe UI"/>
                        </a:defRPr>
                      </a:pPr>
                      <a:r>
                        <a:t>92.23 ± 2.14</a:t>
                      </a:r>
                    </a:p>
                  </a:txBody>
                  <a:tcPr>
                    <a:solidFill>
                      <a:srgbClr val="F8FAFD"/>
                    </a:solidFill>
                  </a:tcPr>
                </a:tc>
                <a:tc>
                  <a:txBody>
                    <a:bodyPr/>
                    <a:lstStyle/>
                    <a:p>
                      <a:pPr algn="ctr">
                        <a:defRPr sz="850" b="0">
                          <a:solidFill>
                            <a:srgbClr val="212529"/>
                          </a:solidFill>
                          <a:latin typeface="Segoe UI"/>
                        </a:defRPr>
                      </a:pPr>
                      <a:r>
                        <a:t>84.6%</a:t>
                      </a:r>
                    </a:p>
                  </a:txBody>
                  <a:tcPr>
                    <a:solidFill>
                      <a:srgbClr val="F8FAFD"/>
                    </a:solidFill>
                  </a:tcPr>
                </a:tc>
                <a:tc>
                  <a:txBody>
                    <a:bodyPr/>
                    <a:lstStyle/>
                    <a:p>
                      <a:pPr algn="ctr">
                        <a:defRPr sz="850" b="0">
                          <a:solidFill>
                            <a:srgbClr val="212529"/>
                          </a:solidFill>
                          <a:latin typeface="Segoe UI"/>
                        </a:defRPr>
                      </a:pPr>
                      <a:r>
                        <a:t>0.664</a:t>
                      </a:r>
                    </a:p>
                  </a:txBody>
                  <a:tcPr>
                    <a:solidFill>
                      <a:srgbClr val="F8FAFD"/>
                    </a:solidFill>
                  </a:tcPr>
                </a:tc>
                <a:tc>
                  <a:txBody>
                    <a:bodyPr/>
                    <a:lstStyle/>
                    <a:p>
                      <a:pPr algn="ctr">
                        <a:defRPr sz="850" b="0">
                          <a:solidFill>
                            <a:srgbClr val="212529"/>
                          </a:solidFill>
                          <a:latin typeface="Segoe UI"/>
                        </a:defRPr>
                      </a:pPr>
                      <a:r>
                        <a:t>0.522</a:t>
                      </a:r>
                    </a:p>
                  </a:txBody>
                  <a:tcPr>
                    <a:solidFill>
                      <a:srgbClr val="F8FAFD"/>
                    </a:solidFill>
                  </a:tcPr>
                </a:tc>
                <a:tc>
                  <a:txBody>
                    <a:bodyPr/>
                    <a:lstStyle/>
                    <a:p>
                      <a:pPr algn="ctr">
                        <a:defRPr sz="850" b="0">
                          <a:solidFill>
                            <a:srgbClr val="212529"/>
                          </a:solidFill>
                          <a:latin typeface="Segoe UI"/>
                        </a:defRPr>
                      </a:pPr>
                      <a:r>
                        <a:t>53.07 ± 0.43</a:t>
                      </a:r>
                    </a:p>
                  </a:txBody>
                  <a:tcPr>
                    <a:solidFill>
                      <a:srgbClr val="F8FAFD"/>
                    </a:solidFill>
                  </a:tcPr>
                </a:tc>
                <a:tc>
                  <a:txBody>
                    <a:bodyPr/>
                    <a:lstStyle/>
                    <a:p>
                      <a:pPr algn="ctr">
                        <a:defRPr sz="850" b="0">
                          <a:solidFill>
                            <a:srgbClr val="212529"/>
                          </a:solidFill>
                          <a:latin typeface="Segoe UI"/>
                        </a:defRPr>
                      </a:pPr>
                      <a:r>
                        <a:t>125.10 ± 0.28</a:t>
                      </a:r>
                    </a:p>
                  </a:txBody>
                  <a:tcPr>
                    <a:solidFill>
                      <a:srgbClr val="F8FAFD"/>
                    </a:solidFill>
                  </a:tcPr>
                </a:tc>
              </a:tr>
              <a:tr h="416052">
                <a:tc>
                  <a:txBody>
                    <a:bodyPr/>
                    <a:lstStyle/>
                    <a:p>
                      <a:pPr algn="l">
                        <a:defRPr sz="850" b="0">
                          <a:solidFill>
                            <a:srgbClr val="212529"/>
                          </a:solidFill>
                          <a:latin typeface="Segoe UI"/>
                        </a:defRPr>
                      </a:pPr>
                      <a:r>
                        <a:t>LLM-RAG</a:t>
                      </a:r>
                    </a:p>
                  </a:txBody>
                  <a:tcPr>
                    <a:solidFill>
                      <a:srgbClr val="FFFFFF"/>
                    </a:solidFill>
                  </a:tcPr>
                </a:tc>
                <a:tc>
                  <a:txBody>
                    <a:bodyPr/>
                    <a:lstStyle/>
                    <a:p>
                      <a:pPr algn="ctr">
                        <a:defRPr sz="850" b="0">
                          <a:solidFill>
                            <a:srgbClr val="212529"/>
                          </a:solidFill>
                          <a:latin typeface="Segoe UI"/>
                        </a:defRPr>
                      </a:pPr>
                      <a:r>
                        <a:t>89.18 ± 2.36</a:t>
                      </a:r>
                    </a:p>
                  </a:txBody>
                  <a:tcPr>
                    <a:solidFill>
                      <a:srgbClr val="FFFFFF"/>
                    </a:solidFill>
                  </a:tcPr>
                </a:tc>
                <a:tc>
                  <a:txBody>
                    <a:bodyPr/>
                    <a:lstStyle/>
                    <a:p>
                      <a:pPr algn="ctr">
                        <a:defRPr sz="850" b="0">
                          <a:solidFill>
                            <a:srgbClr val="212529"/>
                          </a:solidFill>
                          <a:latin typeface="Segoe UI"/>
                        </a:defRPr>
                      </a:pPr>
                      <a:r>
                        <a:t>78.6%</a:t>
                      </a:r>
                    </a:p>
                  </a:txBody>
                  <a:tcPr>
                    <a:solidFill>
                      <a:srgbClr val="FFFFFF"/>
                    </a:solidFill>
                  </a:tcPr>
                </a:tc>
                <a:tc>
                  <a:txBody>
                    <a:bodyPr/>
                    <a:lstStyle/>
                    <a:p>
                      <a:pPr algn="ctr">
                        <a:defRPr sz="850" b="0">
                          <a:solidFill>
                            <a:srgbClr val="212529"/>
                          </a:solidFill>
                          <a:latin typeface="Segoe UI"/>
                        </a:defRPr>
                      </a:pPr>
                      <a:r>
                        <a:t>0.712</a:t>
                      </a:r>
                    </a:p>
                  </a:txBody>
                  <a:tcPr>
                    <a:solidFill>
                      <a:srgbClr val="FFFFFF"/>
                    </a:solidFill>
                  </a:tcPr>
                </a:tc>
                <a:tc>
                  <a:txBody>
                    <a:bodyPr/>
                    <a:lstStyle/>
                    <a:p>
                      <a:pPr algn="ctr">
                        <a:defRPr sz="850" b="0">
                          <a:solidFill>
                            <a:srgbClr val="212529"/>
                          </a:solidFill>
                          <a:latin typeface="Segoe UI"/>
                        </a:defRPr>
                      </a:pPr>
                      <a:r>
                        <a:t>0.589</a:t>
                      </a:r>
                    </a:p>
                  </a:txBody>
                  <a:tcPr>
                    <a:solidFill>
                      <a:srgbClr val="FFFFFF"/>
                    </a:solidFill>
                  </a:tcPr>
                </a:tc>
                <a:tc>
                  <a:txBody>
                    <a:bodyPr/>
                    <a:lstStyle/>
                    <a:p>
                      <a:pPr algn="ctr">
                        <a:defRPr sz="850" b="0">
                          <a:solidFill>
                            <a:srgbClr val="212529"/>
                          </a:solidFill>
                          <a:latin typeface="Segoe UI"/>
                        </a:defRPr>
                      </a:pPr>
                      <a:r>
                        <a:t>43.05 ± 0.38</a:t>
                      </a:r>
                    </a:p>
                  </a:txBody>
                  <a:tcPr>
                    <a:solidFill>
                      <a:srgbClr val="FFFFFF"/>
                    </a:solidFill>
                  </a:tcPr>
                </a:tc>
                <a:tc>
                  <a:txBody>
                    <a:bodyPr/>
                    <a:lstStyle/>
                    <a:p>
                      <a:pPr algn="ctr">
                        <a:defRPr sz="850" b="0">
                          <a:solidFill>
                            <a:srgbClr val="212529"/>
                          </a:solidFill>
                          <a:latin typeface="Segoe UI"/>
                        </a:defRPr>
                      </a:pPr>
                      <a:r>
                        <a:t>164.96 ± 0.34</a:t>
                      </a:r>
                    </a:p>
                  </a:txBody>
                  <a:tcPr>
                    <a:solidFill>
                      <a:srgbClr val="FFFFFF"/>
                    </a:solidFill>
                  </a:tcPr>
                </a:tc>
              </a:tr>
              <a:tr h="416052">
                <a:tc>
                  <a:txBody>
                    <a:bodyPr/>
                    <a:lstStyle/>
                    <a:p>
                      <a:pPr algn="l">
                        <a:defRPr sz="850" b="0">
                          <a:solidFill>
                            <a:srgbClr val="212529"/>
                          </a:solidFill>
                          <a:latin typeface="Segoe UI"/>
                        </a:defRPr>
                      </a:pPr>
                      <a:r>
                        <a:t>ColBERT-Clinical</a:t>
                      </a:r>
                    </a:p>
                  </a:txBody>
                  <a:tcPr>
                    <a:solidFill>
                      <a:srgbClr val="F8FAFD"/>
                    </a:solidFill>
                  </a:tcPr>
                </a:tc>
                <a:tc>
                  <a:txBody>
                    <a:bodyPr/>
                    <a:lstStyle/>
                    <a:p>
                      <a:pPr algn="ctr">
                        <a:defRPr sz="850" b="0">
                          <a:solidFill>
                            <a:srgbClr val="212529"/>
                          </a:solidFill>
                          <a:latin typeface="Segoe UI"/>
                        </a:defRPr>
                      </a:pPr>
                      <a:r>
                        <a:t>79.95 ± 2.06</a:t>
                      </a:r>
                    </a:p>
                  </a:txBody>
                  <a:tcPr>
                    <a:solidFill>
                      <a:srgbClr val="F8FAFD"/>
                    </a:solidFill>
                  </a:tcPr>
                </a:tc>
                <a:tc>
                  <a:txBody>
                    <a:bodyPr/>
                    <a:lstStyle/>
                    <a:p>
                      <a:pPr algn="ctr">
                        <a:defRPr sz="850" b="0">
                          <a:solidFill>
                            <a:srgbClr val="212529"/>
                          </a:solidFill>
                          <a:latin typeface="Segoe UI"/>
                        </a:defRPr>
                      </a:pPr>
                      <a:r>
                        <a:t>85.5%</a:t>
                      </a:r>
                    </a:p>
                  </a:txBody>
                  <a:tcPr>
                    <a:solidFill>
                      <a:srgbClr val="F8FAFD"/>
                    </a:solidFill>
                  </a:tcPr>
                </a:tc>
                <a:tc>
                  <a:txBody>
                    <a:bodyPr/>
                    <a:lstStyle/>
                    <a:p>
                      <a:pPr algn="ctr">
                        <a:defRPr sz="850" b="0">
                          <a:solidFill>
                            <a:srgbClr val="212529"/>
                          </a:solidFill>
                          <a:latin typeface="Segoe UI"/>
                        </a:defRPr>
                      </a:pPr>
                      <a:r>
                        <a:t>0.784</a:t>
                      </a:r>
                    </a:p>
                  </a:txBody>
                  <a:tcPr>
                    <a:solidFill>
                      <a:srgbClr val="F8FAFD"/>
                    </a:solidFill>
                  </a:tcPr>
                </a:tc>
                <a:tc>
                  <a:txBody>
                    <a:bodyPr/>
                    <a:lstStyle/>
                    <a:p>
                      <a:pPr algn="ctr">
                        <a:defRPr sz="850" b="0">
                          <a:solidFill>
                            <a:srgbClr val="212529"/>
                          </a:solidFill>
                          <a:latin typeface="Segoe UI"/>
                        </a:defRPr>
                      </a:pPr>
                      <a:r>
                        <a:t>0.672</a:t>
                      </a:r>
                    </a:p>
                  </a:txBody>
                  <a:tcPr>
                    <a:solidFill>
                      <a:srgbClr val="F8FAFD"/>
                    </a:solidFill>
                  </a:tcPr>
                </a:tc>
                <a:tc>
                  <a:txBody>
                    <a:bodyPr/>
                    <a:lstStyle/>
                    <a:p>
                      <a:pPr algn="ctr">
                        <a:defRPr sz="850" b="0">
                          <a:solidFill>
                            <a:srgbClr val="212529"/>
                          </a:solidFill>
                          <a:latin typeface="Segoe UI"/>
                        </a:defRPr>
                      </a:pPr>
                      <a:r>
                        <a:t>42.29 ± 0.35</a:t>
                      </a:r>
                    </a:p>
                  </a:txBody>
                  <a:tcPr>
                    <a:solidFill>
                      <a:srgbClr val="F8FAFD"/>
                    </a:solidFill>
                  </a:tcPr>
                </a:tc>
                <a:tc>
                  <a:txBody>
                    <a:bodyPr/>
                    <a:lstStyle/>
                    <a:p>
                      <a:pPr algn="ctr">
                        <a:defRPr sz="850" b="0">
                          <a:solidFill>
                            <a:srgbClr val="212529"/>
                          </a:solidFill>
                          <a:latin typeface="Segoe UI"/>
                        </a:defRPr>
                      </a:pPr>
                      <a:r>
                        <a:t>157.26 ± 0.33</a:t>
                      </a:r>
                    </a:p>
                  </a:txBody>
                  <a:tcPr>
                    <a:solidFill>
                      <a:srgbClr val="F8FAFD"/>
                    </a:solidFill>
                  </a:tcPr>
                </a:tc>
              </a:tr>
              <a:tr h="416052">
                <a:tc>
                  <a:txBody>
                    <a:bodyPr/>
                    <a:lstStyle/>
                    <a:p>
                      <a:pPr algn="l">
                        <a:defRPr sz="850" b="0">
                          <a:solidFill>
                            <a:srgbClr val="212529"/>
                          </a:solidFill>
                          <a:latin typeface="Segoe UI"/>
                        </a:defRPr>
                      </a:pPr>
                      <a:r>
                        <a:t>CMA (Dense RAG)</a:t>
                      </a:r>
                    </a:p>
                  </a:txBody>
                  <a:tcPr>
                    <a:solidFill>
                      <a:srgbClr val="FFFFFF"/>
                    </a:solidFill>
                  </a:tcPr>
                </a:tc>
                <a:tc>
                  <a:txBody>
                    <a:bodyPr/>
                    <a:lstStyle/>
                    <a:p>
                      <a:pPr algn="ctr">
                        <a:defRPr sz="850" b="0">
                          <a:solidFill>
                            <a:srgbClr val="212529"/>
                          </a:solidFill>
                          <a:latin typeface="Segoe UI"/>
                        </a:defRPr>
                      </a:pPr>
                      <a:r>
                        <a:t>78.71 ± 1.90</a:t>
                      </a:r>
                    </a:p>
                  </a:txBody>
                  <a:tcPr>
                    <a:solidFill>
                      <a:srgbClr val="FFFFFF"/>
                    </a:solidFill>
                  </a:tcPr>
                </a:tc>
                <a:tc>
                  <a:txBody>
                    <a:bodyPr/>
                    <a:lstStyle/>
                    <a:p>
                      <a:pPr algn="ctr">
                        <a:defRPr sz="850" b="0">
                          <a:solidFill>
                            <a:srgbClr val="212529"/>
                          </a:solidFill>
                          <a:latin typeface="Segoe UI"/>
                        </a:defRPr>
                      </a:pPr>
                      <a:r>
                        <a:t>86.8%</a:t>
                      </a:r>
                    </a:p>
                  </a:txBody>
                  <a:tcPr>
                    <a:solidFill>
                      <a:srgbClr val="FFFFFF"/>
                    </a:solidFill>
                  </a:tcPr>
                </a:tc>
                <a:tc>
                  <a:txBody>
                    <a:bodyPr/>
                    <a:lstStyle/>
                    <a:p>
                      <a:pPr algn="ctr">
                        <a:defRPr sz="850" b="0">
                          <a:solidFill>
                            <a:srgbClr val="212529"/>
                          </a:solidFill>
                          <a:latin typeface="Segoe UI"/>
                        </a:defRPr>
                      </a:pPr>
                      <a:r>
                        <a:t>0.801</a:t>
                      </a:r>
                    </a:p>
                  </a:txBody>
                  <a:tcPr>
                    <a:solidFill>
                      <a:srgbClr val="FFFFFF"/>
                    </a:solidFill>
                  </a:tcPr>
                </a:tc>
                <a:tc>
                  <a:txBody>
                    <a:bodyPr/>
                    <a:lstStyle/>
                    <a:p>
                      <a:pPr algn="ctr">
                        <a:defRPr sz="850" b="0">
                          <a:solidFill>
                            <a:srgbClr val="212529"/>
                          </a:solidFill>
                          <a:latin typeface="Segoe UI"/>
                        </a:defRPr>
                      </a:pPr>
                      <a:r>
                        <a:t>0.698</a:t>
                      </a:r>
                    </a:p>
                  </a:txBody>
                  <a:tcPr>
                    <a:solidFill>
                      <a:srgbClr val="FFFFFF"/>
                    </a:solidFill>
                  </a:tcPr>
                </a:tc>
                <a:tc>
                  <a:txBody>
                    <a:bodyPr/>
                    <a:lstStyle/>
                    <a:p>
                      <a:pPr algn="ctr">
                        <a:defRPr sz="850" b="0">
                          <a:solidFill>
                            <a:srgbClr val="212529"/>
                          </a:solidFill>
                          <a:latin typeface="Segoe UI"/>
                        </a:defRPr>
                      </a:pPr>
                      <a:r>
                        <a:t>43.43 ± 0.33</a:t>
                      </a:r>
                    </a:p>
                  </a:txBody>
                  <a:tcPr>
                    <a:solidFill>
                      <a:srgbClr val="FFFFFF"/>
                    </a:solidFill>
                  </a:tcPr>
                </a:tc>
                <a:tc>
                  <a:txBody>
                    <a:bodyPr/>
                    <a:lstStyle/>
                    <a:p>
                      <a:pPr algn="ctr">
                        <a:defRPr sz="850" b="0">
                          <a:solidFill>
                            <a:srgbClr val="212529"/>
                          </a:solidFill>
                          <a:latin typeface="Segoe UI"/>
                        </a:defRPr>
                      </a:pPr>
                      <a:r>
                        <a:t>146.46 ± 0.32</a:t>
                      </a:r>
                    </a:p>
                  </a:txBody>
                  <a:tcPr>
                    <a:solidFill>
                      <a:srgbClr val="FFFFFF"/>
                    </a:solidFill>
                  </a:tcPr>
                </a:tc>
              </a:tr>
              <a:tr h="416052">
                <a:tc>
                  <a:txBody>
                    <a:bodyPr/>
                    <a:lstStyle/>
                    <a:p>
                      <a:pPr algn="l">
                        <a:defRPr sz="850" b="0">
                          <a:solidFill>
                            <a:srgbClr val="212529"/>
                          </a:solidFill>
                          <a:latin typeface="Segoe UI"/>
                        </a:defRPr>
                      </a:pPr>
                      <a:r>
                        <a:t>MedCPT</a:t>
                      </a:r>
                    </a:p>
                  </a:txBody>
                  <a:tcPr>
                    <a:solidFill>
                      <a:srgbClr val="F8FAFD"/>
                    </a:solidFill>
                  </a:tcPr>
                </a:tc>
                <a:tc>
                  <a:txBody>
                    <a:bodyPr/>
                    <a:lstStyle/>
                    <a:p>
                      <a:pPr algn="ctr">
                        <a:defRPr sz="850" b="0">
                          <a:solidFill>
                            <a:srgbClr val="212529"/>
                          </a:solidFill>
                          <a:latin typeface="Segoe UI"/>
                        </a:defRPr>
                      </a:pPr>
                      <a:r>
                        <a:t>76.36 ± 1.86</a:t>
                      </a:r>
                    </a:p>
                  </a:txBody>
                  <a:tcPr>
                    <a:solidFill>
                      <a:srgbClr val="F8FAFD"/>
                    </a:solidFill>
                  </a:tcPr>
                </a:tc>
                <a:tc>
                  <a:txBody>
                    <a:bodyPr/>
                    <a:lstStyle/>
                    <a:p>
                      <a:pPr algn="ctr">
                        <a:defRPr sz="850" b="0">
                          <a:solidFill>
                            <a:srgbClr val="212529"/>
                          </a:solidFill>
                          <a:latin typeface="Segoe UI"/>
                        </a:defRPr>
                      </a:pPr>
                      <a:r>
                        <a:t>87.5%</a:t>
                      </a:r>
                    </a:p>
                  </a:txBody>
                  <a:tcPr>
                    <a:solidFill>
                      <a:srgbClr val="F8FAFD"/>
                    </a:solidFill>
                  </a:tcPr>
                </a:tc>
                <a:tc>
                  <a:txBody>
                    <a:bodyPr/>
                    <a:lstStyle/>
                    <a:p>
                      <a:pPr algn="ctr">
                        <a:defRPr sz="850" b="0">
                          <a:solidFill>
                            <a:srgbClr val="212529"/>
                          </a:solidFill>
                          <a:latin typeface="Segoe UI"/>
                        </a:defRPr>
                      </a:pPr>
                      <a:r>
                        <a:t>0.819</a:t>
                      </a:r>
                    </a:p>
                  </a:txBody>
                  <a:tcPr>
                    <a:solidFill>
                      <a:srgbClr val="F8FAFD"/>
                    </a:solidFill>
                  </a:tcPr>
                </a:tc>
                <a:tc>
                  <a:txBody>
                    <a:bodyPr/>
                    <a:lstStyle/>
                    <a:p>
                      <a:pPr algn="ctr">
                        <a:defRPr sz="850" b="0">
                          <a:solidFill>
                            <a:srgbClr val="212529"/>
                          </a:solidFill>
                          <a:latin typeface="Segoe UI"/>
                        </a:defRPr>
                      </a:pPr>
                      <a:r>
                        <a:t>0.716</a:t>
                      </a:r>
                    </a:p>
                  </a:txBody>
                  <a:tcPr>
                    <a:solidFill>
                      <a:srgbClr val="F8FAFD"/>
                    </a:solidFill>
                  </a:tcPr>
                </a:tc>
                <a:tc>
                  <a:txBody>
                    <a:bodyPr/>
                    <a:lstStyle/>
                    <a:p>
                      <a:pPr algn="ctr">
                        <a:defRPr sz="850" b="0">
                          <a:solidFill>
                            <a:srgbClr val="212529"/>
                          </a:solidFill>
                          <a:latin typeface="Segoe UI"/>
                        </a:defRPr>
                      </a:pPr>
                      <a:r>
                        <a:t>42.36 ± 0.32</a:t>
                      </a:r>
                    </a:p>
                  </a:txBody>
                  <a:tcPr>
                    <a:solidFill>
                      <a:srgbClr val="F8FAFD"/>
                    </a:solidFill>
                  </a:tcPr>
                </a:tc>
                <a:tc>
                  <a:txBody>
                    <a:bodyPr/>
                    <a:lstStyle/>
                    <a:p>
                      <a:pPr algn="ctr">
                        <a:defRPr sz="850" b="0">
                          <a:solidFill>
                            <a:srgbClr val="212529"/>
                          </a:solidFill>
                          <a:latin typeface="Segoe UI"/>
                        </a:defRPr>
                      </a:pPr>
                      <a:r>
                        <a:t>142.21 ± 0.31</a:t>
                      </a:r>
                    </a:p>
                  </a:txBody>
                  <a:tcPr>
                    <a:solidFill>
                      <a:srgbClr val="F8FAFD"/>
                    </a:solidFill>
                  </a:tcPr>
                </a:tc>
              </a:tr>
              <a:tr h="416052">
                <a:tc>
                  <a:txBody>
                    <a:bodyPr/>
                    <a:lstStyle/>
                    <a:p>
                      <a:pPr algn="l">
                        <a:defRPr sz="850" b="0">
                          <a:solidFill>
                            <a:srgbClr val="212529"/>
                          </a:solidFill>
                          <a:latin typeface="Segoe UI"/>
                        </a:defRPr>
                      </a:pPr>
                      <a:r>
                        <a:t>GraphCare</a:t>
                      </a:r>
                    </a:p>
                  </a:txBody>
                  <a:tcPr>
                    <a:solidFill>
                      <a:srgbClr val="FFFFFF"/>
                    </a:solidFill>
                  </a:tcPr>
                </a:tc>
                <a:tc>
                  <a:txBody>
                    <a:bodyPr/>
                    <a:lstStyle/>
                    <a:p>
                      <a:pPr algn="ctr">
                        <a:defRPr sz="850" b="0">
                          <a:solidFill>
                            <a:srgbClr val="212529"/>
                          </a:solidFill>
                          <a:latin typeface="Segoe UI"/>
                        </a:defRPr>
                      </a:pPr>
                      <a:r>
                        <a:t>75.62 ± 1.84</a:t>
                      </a:r>
                    </a:p>
                  </a:txBody>
                  <a:tcPr>
                    <a:solidFill>
                      <a:srgbClr val="FFFFFF"/>
                    </a:solidFill>
                  </a:tcPr>
                </a:tc>
                <a:tc>
                  <a:txBody>
                    <a:bodyPr/>
                    <a:lstStyle/>
                    <a:p>
                      <a:pPr algn="ctr">
                        <a:defRPr sz="850" b="0">
                          <a:solidFill>
                            <a:srgbClr val="212529"/>
                          </a:solidFill>
                          <a:latin typeface="Segoe UI"/>
                        </a:defRPr>
                      </a:pPr>
                      <a:r>
                        <a:t>87.1%</a:t>
                      </a:r>
                    </a:p>
                  </a:txBody>
                  <a:tcPr>
                    <a:solidFill>
                      <a:srgbClr val="FFFFFF"/>
                    </a:solidFill>
                  </a:tcPr>
                </a:tc>
                <a:tc>
                  <a:txBody>
                    <a:bodyPr/>
                    <a:lstStyle/>
                    <a:p>
                      <a:pPr algn="ctr">
                        <a:defRPr sz="850" b="0">
                          <a:solidFill>
                            <a:srgbClr val="212529"/>
                          </a:solidFill>
                          <a:latin typeface="Segoe UI"/>
                        </a:defRPr>
                      </a:pPr>
                      <a:r>
                        <a:t>0.825</a:t>
                      </a:r>
                    </a:p>
                  </a:txBody>
                  <a:tcPr>
                    <a:solidFill>
                      <a:srgbClr val="FFFFFF"/>
                    </a:solidFill>
                  </a:tcPr>
                </a:tc>
                <a:tc>
                  <a:txBody>
                    <a:bodyPr/>
                    <a:lstStyle/>
                    <a:p>
                      <a:pPr algn="ctr">
                        <a:defRPr sz="850" b="0">
                          <a:solidFill>
                            <a:srgbClr val="212529"/>
                          </a:solidFill>
                          <a:latin typeface="Segoe UI"/>
                        </a:defRPr>
                      </a:pPr>
                      <a:r>
                        <a:t>0.724</a:t>
                      </a:r>
                    </a:p>
                  </a:txBody>
                  <a:tcPr>
                    <a:solidFill>
                      <a:srgbClr val="FFFFFF"/>
                    </a:solidFill>
                  </a:tcPr>
                </a:tc>
                <a:tc>
                  <a:txBody>
                    <a:bodyPr/>
                    <a:lstStyle/>
                    <a:p>
                      <a:pPr algn="ctr">
                        <a:defRPr sz="850" b="0">
                          <a:solidFill>
                            <a:srgbClr val="212529"/>
                          </a:solidFill>
                          <a:latin typeface="Segoe UI"/>
                        </a:defRPr>
                      </a:pPr>
                      <a:r>
                        <a:t>41.44 ± 0.33</a:t>
                      </a:r>
                    </a:p>
                  </a:txBody>
                  <a:tcPr>
                    <a:solidFill>
                      <a:srgbClr val="FFFFFF"/>
                    </a:solidFill>
                  </a:tcPr>
                </a:tc>
                <a:tc>
                  <a:txBody>
                    <a:bodyPr/>
                    <a:lstStyle/>
                    <a:p>
                      <a:pPr algn="ctr">
                        <a:defRPr sz="850" b="0">
                          <a:solidFill>
                            <a:srgbClr val="212529"/>
                          </a:solidFill>
                          <a:latin typeface="Segoe UI"/>
                        </a:defRPr>
                      </a:pPr>
                      <a:r>
                        <a:t>149.46 ± 0.32</a:t>
                      </a:r>
                    </a:p>
                  </a:txBody>
                  <a:tcPr>
                    <a:solidFill>
                      <a:srgbClr val="FFFFFF"/>
                    </a:solidFill>
                  </a:tcPr>
                </a:tc>
              </a:tr>
              <a:tr h="416052">
                <a:tc>
                  <a:txBody>
                    <a:bodyPr/>
                    <a:lstStyle/>
                    <a:p>
                      <a:pPr algn="l">
                        <a:defRPr sz="850" b="0">
                          <a:solidFill>
                            <a:srgbClr val="212529"/>
                          </a:solidFill>
                          <a:latin typeface="Segoe UI"/>
                        </a:defRPr>
                      </a:pPr>
                      <a:r>
                        <a:t>GDT (Manifold)</a:t>
                      </a:r>
                    </a:p>
                  </a:txBody>
                  <a:tcPr>
                    <a:solidFill>
                      <a:srgbClr val="F8FAFD"/>
                    </a:solidFill>
                  </a:tcPr>
                </a:tc>
                <a:tc>
                  <a:txBody>
                    <a:bodyPr/>
                    <a:lstStyle/>
                    <a:p>
                      <a:pPr algn="ctr">
                        <a:defRPr sz="850" b="0">
                          <a:solidFill>
                            <a:srgbClr val="212529"/>
                          </a:solidFill>
                          <a:latin typeface="Segoe UI"/>
                        </a:defRPr>
                      </a:pPr>
                      <a:r>
                        <a:t>68.96 ± 1.57</a:t>
                      </a:r>
                    </a:p>
                  </a:txBody>
                  <a:tcPr>
                    <a:solidFill>
                      <a:srgbClr val="F8FAFD"/>
                    </a:solidFill>
                  </a:tcPr>
                </a:tc>
                <a:tc>
                  <a:txBody>
                    <a:bodyPr/>
                    <a:lstStyle/>
                    <a:p>
                      <a:pPr algn="ctr">
                        <a:defRPr sz="850" b="0">
                          <a:solidFill>
                            <a:srgbClr val="212529"/>
                          </a:solidFill>
                          <a:latin typeface="Segoe UI"/>
                        </a:defRPr>
                      </a:pPr>
                      <a:r>
                        <a:t>91.5%</a:t>
                      </a:r>
                    </a:p>
                  </a:txBody>
                  <a:tcPr>
                    <a:solidFill>
                      <a:srgbClr val="F8FAFD"/>
                    </a:solidFill>
                  </a:tcPr>
                </a:tc>
                <a:tc>
                  <a:txBody>
                    <a:bodyPr/>
                    <a:lstStyle/>
                    <a:p>
                      <a:pPr algn="ctr">
                        <a:defRPr sz="850" b="0">
                          <a:solidFill>
                            <a:srgbClr val="212529"/>
                          </a:solidFill>
                          <a:latin typeface="Segoe UI"/>
                        </a:defRPr>
                      </a:pPr>
                      <a:r>
                        <a:t>0.851</a:t>
                      </a:r>
                    </a:p>
                  </a:txBody>
                  <a:tcPr>
                    <a:solidFill>
                      <a:srgbClr val="F8FAFD"/>
                    </a:solidFill>
                  </a:tcPr>
                </a:tc>
                <a:tc>
                  <a:txBody>
                    <a:bodyPr/>
                    <a:lstStyle/>
                    <a:p>
                      <a:pPr algn="ctr">
                        <a:defRPr sz="850" b="0">
                          <a:solidFill>
                            <a:srgbClr val="212529"/>
                          </a:solidFill>
                          <a:latin typeface="Segoe UI"/>
                        </a:defRPr>
                      </a:pPr>
                      <a:r>
                        <a:t>0.774</a:t>
                      </a:r>
                    </a:p>
                  </a:txBody>
                  <a:tcPr>
                    <a:solidFill>
                      <a:srgbClr val="F8FAFD"/>
                    </a:solidFill>
                  </a:tcPr>
                </a:tc>
                <a:tc>
                  <a:txBody>
                    <a:bodyPr/>
                    <a:lstStyle/>
                    <a:p>
                      <a:pPr algn="ctr">
                        <a:defRPr sz="850" b="0">
                          <a:solidFill>
                            <a:srgbClr val="212529"/>
                          </a:solidFill>
                          <a:latin typeface="Segoe UI"/>
                        </a:defRPr>
                      </a:pPr>
                      <a:r>
                        <a:t>39.47 ± 0.30</a:t>
                      </a:r>
                    </a:p>
                  </a:txBody>
                  <a:tcPr>
                    <a:solidFill>
                      <a:srgbClr val="F8FAFD"/>
                    </a:solidFill>
                  </a:tcPr>
                </a:tc>
                <a:tc>
                  <a:txBody>
                    <a:bodyPr/>
                    <a:lstStyle/>
                    <a:p>
                      <a:pPr algn="ctr">
                        <a:defRPr sz="850" b="0">
                          <a:solidFill>
                            <a:srgbClr val="212529"/>
                          </a:solidFill>
                          <a:latin typeface="Segoe UI"/>
                        </a:defRPr>
                      </a:pPr>
                      <a:r>
                        <a:t>128.24 ± 0.28</a:t>
                      </a:r>
                    </a:p>
                  </a:txBody>
                  <a:tcPr>
                    <a:solidFill>
                      <a:srgbClr val="F8FAFD"/>
                    </a:solidFill>
                  </a:tcPr>
                </a:tc>
              </a:tr>
              <a:tr h="416052">
                <a:tc>
                  <a:txBody>
                    <a:bodyPr/>
                    <a:lstStyle/>
                    <a:p>
                      <a:pPr algn="l">
                        <a:defRPr sz="850" b="1">
                          <a:solidFill>
                            <a:srgbClr val="0C3C69"/>
                          </a:solidFill>
                          <a:latin typeface="Segoe UI"/>
                        </a:defRPr>
                      </a:pPr>
                      <a:r>
                        <a:t>SDT (Ours)</a:t>
                      </a:r>
                    </a:p>
                  </a:txBody>
                  <a:tcPr>
                    <a:solidFill>
                      <a:srgbClr val="EBF3FA"/>
                    </a:solidFill>
                  </a:tcPr>
                </a:tc>
                <a:tc>
                  <a:txBody>
                    <a:bodyPr/>
                    <a:lstStyle/>
                    <a:p>
                      <a:pPr algn="ctr">
                        <a:defRPr sz="850" b="1">
                          <a:solidFill>
                            <a:srgbClr val="0C3C69"/>
                          </a:solidFill>
                          <a:latin typeface="Segoe UI"/>
                        </a:defRPr>
                      </a:pPr>
                      <a:r>
                        <a:t>62.97 ± 1.40</a:t>
                      </a:r>
                    </a:p>
                  </a:txBody>
                  <a:tcPr>
                    <a:solidFill>
                      <a:srgbClr val="EBF3FA"/>
                    </a:solidFill>
                  </a:tcPr>
                </a:tc>
                <a:tc>
                  <a:txBody>
                    <a:bodyPr/>
                    <a:lstStyle/>
                    <a:p>
                      <a:pPr algn="ctr">
                        <a:defRPr sz="850" b="1">
                          <a:solidFill>
                            <a:srgbClr val="0C3C69"/>
                          </a:solidFill>
                          <a:latin typeface="Segoe UI"/>
                        </a:defRPr>
                      </a:pPr>
                      <a:r>
                        <a:t>93.9%</a:t>
                      </a:r>
                    </a:p>
                  </a:txBody>
                  <a:tcPr>
                    <a:solidFill>
                      <a:srgbClr val="EBF3FA"/>
                    </a:solidFill>
                  </a:tcPr>
                </a:tc>
                <a:tc>
                  <a:txBody>
                    <a:bodyPr/>
                    <a:lstStyle/>
                    <a:p>
                      <a:pPr algn="ctr">
                        <a:defRPr sz="850" b="1">
                          <a:solidFill>
                            <a:srgbClr val="0C3C69"/>
                          </a:solidFill>
                          <a:latin typeface="Segoe UI"/>
                        </a:defRPr>
                      </a:pPr>
                      <a:r>
                        <a:t>0.914</a:t>
                      </a:r>
                    </a:p>
                  </a:txBody>
                  <a:tcPr>
                    <a:solidFill>
                      <a:srgbClr val="EBF3FA"/>
                    </a:solidFill>
                  </a:tcPr>
                </a:tc>
                <a:tc>
                  <a:txBody>
                    <a:bodyPr/>
                    <a:lstStyle/>
                    <a:p>
                      <a:pPr algn="ctr">
                        <a:defRPr sz="850" b="1">
                          <a:solidFill>
                            <a:srgbClr val="0C3C69"/>
                          </a:solidFill>
                          <a:latin typeface="Segoe UI"/>
                        </a:defRPr>
                      </a:pPr>
                      <a:r>
                        <a:t>0.862</a:t>
                      </a:r>
                    </a:p>
                  </a:txBody>
                  <a:tcPr>
                    <a:solidFill>
                      <a:srgbClr val="EBF3FA"/>
                    </a:solidFill>
                  </a:tcPr>
                </a:tc>
                <a:tc>
                  <a:txBody>
                    <a:bodyPr/>
                    <a:lstStyle/>
                    <a:p>
                      <a:pPr algn="ctr">
                        <a:defRPr sz="850" b="1">
                          <a:solidFill>
                            <a:srgbClr val="0C3C69"/>
                          </a:solidFill>
                          <a:latin typeface="Segoe UI"/>
                        </a:defRPr>
                      </a:pPr>
                      <a:r>
                        <a:t>34.98 ± 0.28</a:t>
                      </a:r>
                    </a:p>
                  </a:txBody>
                  <a:tcPr>
                    <a:solidFill>
                      <a:srgbClr val="EBF3FA"/>
                    </a:solidFill>
                  </a:tcPr>
                </a:tc>
                <a:tc>
                  <a:txBody>
                    <a:bodyPr/>
                    <a:lstStyle/>
                    <a:p>
                      <a:pPr algn="ctr">
                        <a:defRPr sz="850" b="1">
                          <a:solidFill>
                            <a:srgbClr val="0C3C69"/>
                          </a:solidFill>
                          <a:latin typeface="Segoe UI"/>
                        </a:defRPr>
                      </a:pPr>
                      <a:r>
                        <a:t>112.87 ± 0.25</a:t>
                      </a:r>
                    </a:p>
                  </a:txBody>
                  <a:tcPr>
                    <a:solidFill>
                      <a:srgbClr val="EBF3FA"/>
                    </a:solidFill>
                  </a:tcPr>
                </a:tc>
              </a:tr>
            </a:tbl>
          </a:graphicData>
        </a:graphic>
      </p:graphicFrame>
      <p:pic>
        <p:nvPicPr>
          <p:cNvPr id="6" name="Picture 5" descr="image.png"/>
          <p:cNvPicPr>
            <a:picLocks noChangeAspect="1"/>
          </p:cNvPicPr>
          <p:nvPr/>
        </p:nvPicPr>
        <p:blipFill>
          <a:blip r:embed="rId3"/>
          <a:stretch>
            <a:fillRect/>
          </a:stretch>
        </p:blipFill>
        <p:spPr>
          <a:xfrm>
            <a:off x="6949440" y="2267712"/>
            <a:ext cx="4690872" cy="2560320"/>
          </a:xfrm>
          <a:prstGeom prst="rect">
            <a:avLst/>
          </a:prstGeom>
        </p:spPr>
      </p:pic>
      <p:sp>
        <p:nvSpPr>
          <p:cNvPr id="7" name="Rounded Rectangle 6"/>
          <p:cNvSpPr/>
          <p:nvPr/>
        </p:nvSpPr>
        <p:spPr>
          <a:xfrm>
            <a:off x="6949440" y="4919472"/>
            <a:ext cx="4690872" cy="150876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86600" y="5010912"/>
            <a:ext cx="4416552" cy="1325880"/>
          </a:xfrm>
          <a:prstGeom prst="rect">
            <a:avLst/>
          </a:prstGeom>
          <a:noFill/>
        </p:spPr>
        <p:txBody>
          <a:bodyPr wrap="square" lIns="0" tIns="0" rIns="0" bIns="0">
            <a:spAutoFit/>
          </a:bodyPr>
          <a:lstStyle/>
          <a:p>
            <a:pPr>
              <a:spcBef>
                <a:spcPts val="0"/>
              </a:spcBef>
              <a:spcAft>
                <a:spcPts val="300"/>
              </a:spcAft>
              <a:defRPr sz="1100" b="1">
                <a:solidFill>
                  <a:srgbClr val="102C57"/>
                </a:solidFill>
                <a:latin typeface="Segoe UI"/>
              </a:defRPr>
            </a:pPr>
            <a:r>
              <a:t>Key Empirical Findings (9,000 Evaluated Sessions):</a:t>
            </a:r>
          </a:p>
          <a:p>
            <a:pPr>
              <a:spcBef>
                <a:spcPts val="0"/>
              </a:spcBef>
              <a:spcAft>
                <a:spcPts val="200"/>
              </a:spcAft>
              <a:defRPr sz="950" b="0">
                <a:solidFill>
                  <a:srgbClr val="212529"/>
                </a:solidFill>
                <a:latin typeface="Segoe UI"/>
              </a:defRPr>
            </a:pPr>
            <a:r>
              <a:t>• 28.9% TTCI Speedup: 25.55s reduction over Control; 8.7% over GDT (p &lt; 10^-12, d = 1.38).</a:t>
            </a:r>
          </a:p>
          <a:p>
            <a:pPr>
              <a:spcBef>
                <a:spcPts val="0"/>
              </a:spcBef>
              <a:spcAft>
                <a:spcPts val="200"/>
              </a:spcAft>
              <a:defRPr sz="950" b="0">
                <a:solidFill>
                  <a:srgbClr val="212529"/>
                </a:solidFill>
                <a:latin typeface="Segoe UI"/>
              </a:defRPr>
            </a:pPr>
            <a:r>
              <a:t>• State-of-the-Art Accuracy: 93.9% resolution rate (+7.1% over Control, +2.4% over GDT).</a:t>
            </a:r>
          </a:p>
          <a:p>
            <a:pPr>
              <a:spcBef>
                <a:spcPts val="0"/>
              </a:spcBef>
              <a:spcAft>
                <a:spcPts val="200"/>
              </a:spcAft>
              <a:defRPr sz="950" b="0">
                <a:solidFill>
                  <a:srgbClr val="212529"/>
                </a:solidFill>
                <a:latin typeface="Segoe UI"/>
              </a:defRPr>
            </a:pPr>
            <a:r>
              <a:t>• Recall@5 (91.4%) &amp; MRR (0.862): Surpasses all dense and manifold baselines.</a:t>
            </a:r>
          </a:p>
          <a:p>
            <a:pPr>
              <a:spcBef>
                <a:spcPts val="0"/>
              </a:spcBef>
              <a:spcAft>
                <a:spcPts val="0"/>
              </a:spcAft>
              <a:defRPr sz="950" b="0">
                <a:solidFill>
                  <a:srgbClr val="212529"/>
                </a:solidFill>
                <a:latin typeface="Segoe UI"/>
              </a:defRPr>
            </a:pPr>
            <a:r>
              <a:t>• Cognitive Burden Reduction: 32.2% lower modeled load due to surprisal knapsack.</a:t>
            </a:r>
          </a:p>
        </p:txBody>
      </p:sp>
    </p:spTree>
    <p:extLst>
      <p:ext uri="{BB962C8B-B14F-4D97-AF65-F5344CB8AC3E}">
        <p14:creationId xmlns:p14="http://schemas.microsoft.com/office/powerpoint/2010/main" val="184146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D24997-7C2F-88A6-9C08-388EB77951A3}"/>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COMPARATIVE ANALYSIS</a:t>
            </a:r>
          </a:p>
          <a:p>
            <a:pPr>
              <a:defRPr sz="2000" b="1">
                <a:solidFill>
                  <a:srgbClr val="102C57"/>
                </a:solidFill>
                <a:latin typeface="Segoe UI"/>
              </a:defRPr>
            </a:pPr>
            <a:r>
              <a:t>8. COMPARATIVE ANALYSIS: Workload Profiles &amp; Macro Queueing Impact</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3"/>
          <a:stretch>
            <a:fillRect/>
          </a:stretch>
        </p:blipFill>
        <p:spPr>
          <a:xfrm>
            <a:off x="548640" y="2267712"/>
            <a:ext cx="4754880" cy="2926080"/>
          </a:xfrm>
          <a:prstGeom prst="rect">
            <a:avLst/>
          </a:prstGeom>
        </p:spPr>
      </p:pic>
      <p:sp>
        <p:nvSpPr>
          <p:cNvPr id="6" name="Rounded Rectangle 5"/>
          <p:cNvSpPr/>
          <p:nvPr/>
        </p:nvSpPr>
        <p:spPr>
          <a:xfrm>
            <a:off x="548640" y="5257800"/>
            <a:ext cx="4754880" cy="117043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330952"/>
            <a:ext cx="4480560" cy="1005840"/>
          </a:xfrm>
          <a:prstGeom prst="rect">
            <a:avLst/>
          </a:prstGeom>
          <a:noFill/>
        </p:spPr>
        <p:txBody>
          <a:bodyPr wrap="square" lIns="0" tIns="0" rIns="0" bIns="0">
            <a:spAutoFit/>
          </a:bodyPr>
          <a:lstStyle/>
          <a:p>
            <a:pPr>
              <a:spcBef>
                <a:spcPts val="0"/>
              </a:spcBef>
              <a:spcAft>
                <a:spcPts val="300"/>
              </a:spcAft>
              <a:defRPr sz="1100" b="1">
                <a:solidFill>
                  <a:srgbClr val="102C57"/>
                </a:solidFill>
                <a:latin typeface="Segoe UI"/>
              </a:defRPr>
            </a:pPr>
            <a:r>
              <a:t>NASA-TLX Multidimensional Burden Reduction:</a:t>
            </a:r>
          </a:p>
          <a:p>
            <a:pPr>
              <a:spcBef>
                <a:spcPts val="0"/>
              </a:spcBef>
              <a:spcAft>
                <a:spcPts val="200"/>
              </a:spcAft>
              <a:defRPr sz="950" b="0">
                <a:solidFill>
                  <a:srgbClr val="212529"/>
                </a:solidFill>
                <a:latin typeface="Segoe UI"/>
              </a:defRPr>
            </a:pPr>
            <a:r>
              <a:t>• Mental Demand: 38.3 (SDT) vs. 66.7 (Control) → -42.5% reduction.</a:t>
            </a:r>
          </a:p>
          <a:p>
            <a:pPr>
              <a:spcBef>
                <a:spcPts val="0"/>
              </a:spcBef>
              <a:spcAft>
                <a:spcPts val="200"/>
              </a:spcAft>
              <a:defRPr sz="950" b="0">
                <a:solidFill>
                  <a:srgbClr val="212529"/>
                </a:solidFill>
                <a:latin typeface="Segoe UI"/>
              </a:defRPr>
            </a:pPr>
            <a:r>
              <a:t>• Frustration: 17.5 (SDT) vs. 39.9 (Control) → -56.2% reduction.</a:t>
            </a:r>
          </a:p>
          <a:p>
            <a:pPr>
              <a:spcBef>
                <a:spcPts val="0"/>
              </a:spcBef>
              <a:spcAft>
                <a:spcPts val="0"/>
              </a:spcAft>
              <a:defRPr sz="950" b="0">
                <a:solidFill>
                  <a:srgbClr val="212529"/>
                </a:solidFill>
                <a:latin typeface="Segoe UI"/>
              </a:defRPr>
            </a:pPr>
            <a:r>
              <a:t>• Effort: 38.4 vs. 64.6 (-40.6%)  |  Perceived Performance: 72.8 vs. 56.4 (+29.1%).</a:t>
            </a:r>
          </a:p>
        </p:txBody>
      </p:sp>
      <p:pic>
        <p:nvPicPr>
          <p:cNvPr id="8" name="Picture 7" descr="image.png"/>
          <p:cNvPicPr>
            <a:picLocks noChangeAspect="1"/>
          </p:cNvPicPr>
          <p:nvPr/>
        </p:nvPicPr>
        <p:blipFill>
          <a:blip r:embed="rId4"/>
          <a:stretch>
            <a:fillRect/>
          </a:stretch>
        </p:blipFill>
        <p:spPr>
          <a:xfrm>
            <a:off x="5623560" y="2267712"/>
            <a:ext cx="6016752" cy="2926080"/>
          </a:xfrm>
          <a:prstGeom prst="rect">
            <a:avLst/>
          </a:prstGeom>
        </p:spPr>
      </p:pic>
      <p:sp>
        <p:nvSpPr>
          <p:cNvPr id="9" name="Rounded Rectangle 8"/>
          <p:cNvSpPr/>
          <p:nvPr/>
        </p:nvSpPr>
        <p:spPr>
          <a:xfrm>
            <a:off x="5623560" y="5257800"/>
            <a:ext cx="6016752" cy="1170432"/>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5330952"/>
            <a:ext cx="5742432" cy="1005840"/>
          </a:xfrm>
          <a:prstGeom prst="rect">
            <a:avLst/>
          </a:prstGeom>
          <a:noFill/>
        </p:spPr>
        <p:txBody>
          <a:bodyPr wrap="square" lIns="0" tIns="0" rIns="0" bIns="0">
            <a:spAutoFit/>
          </a:bodyPr>
          <a:lstStyle/>
          <a:p>
            <a:pPr>
              <a:spcBef>
                <a:spcPts val="0"/>
              </a:spcBef>
              <a:spcAft>
                <a:spcPts val="300"/>
              </a:spcAft>
              <a:defRPr sz="1100" b="1">
                <a:solidFill>
                  <a:srgbClr val="146C43"/>
                </a:solidFill>
                <a:latin typeface="Segoe UI"/>
              </a:defRPr>
            </a:pPr>
            <a:r>
              <a:t>Theorem 3: Super-Linear Queue Congestion Relief:</a:t>
            </a:r>
          </a:p>
          <a:p>
            <a:pPr>
              <a:spcBef>
                <a:spcPts val="0"/>
              </a:spcBef>
              <a:spcAft>
                <a:spcPts val="200"/>
              </a:spcAft>
              <a:defRPr sz="950" b="0">
                <a:solidFill>
                  <a:srgbClr val="212529"/>
                </a:solidFill>
                <a:latin typeface="Segoe UI"/>
              </a:defRPr>
            </a:pPr>
            <a:r>
              <a:t>• Erlang C M/M/c Model: Hospital ED staffed by c=8 MDs, arrival λ=6.0/hr, utilization ρ=93.75%.</a:t>
            </a:r>
          </a:p>
          <a:p>
            <a:pPr>
              <a:spcBef>
                <a:spcPts val="0"/>
              </a:spcBef>
              <a:spcAft>
                <a:spcPts val="200"/>
              </a:spcAft>
              <a:defRPr sz="950" b="0">
                <a:solidFill>
                  <a:srgbClr val="212529"/>
                </a:solidFill>
                <a:latin typeface="Segoe UI"/>
              </a:defRPr>
            </a:pPr>
            <a:r>
              <a:t>• Super-Linear Derivative: ∂Wq/∂(Δt) scales quadratically as O((1-ρ)^-2) near saturation.</a:t>
            </a:r>
          </a:p>
          <a:p>
            <a:pPr>
              <a:spcBef>
                <a:spcPts val="0"/>
              </a:spcBef>
              <a:spcAft>
                <a:spcPts val="200"/>
              </a:spcAft>
              <a:defRPr sz="950" b="0">
                <a:solidFill>
                  <a:srgbClr val="212529"/>
                </a:solidFill>
                <a:latin typeface="Segoe UI"/>
              </a:defRPr>
            </a:pPr>
            <a:r>
              <a:t>• 12.31 Minutes Saved per Patient: Wait time drops from 121.10 to 108.79 min.</a:t>
            </a:r>
          </a:p>
          <a:p>
            <a:pPr>
              <a:spcBef>
                <a:spcPts val="0"/>
              </a:spcBef>
              <a:spcAft>
                <a:spcPts val="0"/>
              </a:spcAft>
              <a:defRPr sz="950" b="0">
                <a:solidFill>
                  <a:srgbClr val="212529"/>
                </a:solidFill>
                <a:latin typeface="Segoe UI"/>
              </a:defRPr>
            </a:pPr>
            <a:r>
              <a:t>• &gt;10,200 Hours of Annual Boarding Eliminated for an urban ED managing 50k patients.</a:t>
            </a:r>
          </a:p>
        </p:txBody>
      </p:sp>
    </p:spTree>
    <p:extLst>
      <p:ext uri="{BB962C8B-B14F-4D97-AF65-F5344CB8AC3E}">
        <p14:creationId xmlns:p14="http://schemas.microsoft.com/office/powerpoint/2010/main" val="102008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7018F1-546D-4BE1-4C40-EC3393D09E4E}"/>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CONCLUSION &amp; HORIZONS</a:t>
            </a:r>
          </a:p>
          <a:p>
            <a:pPr>
              <a:defRPr sz="2000" b="1">
                <a:solidFill>
                  <a:srgbClr val="102C57"/>
                </a:solidFill>
                <a:latin typeface="Segoe UI"/>
              </a:defRPr>
            </a:pPr>
            <a:r>
              <a:t>9. CONCLUSION &amp; FUTURE WORK: Summary of Findings &amp; Translational Roadmap</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267712"/>
            <a:ext cx="539496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50592"/>
            <a:ext cx="5029200" cy="3794760"/>
          </a:xfrm>
          <a:prstGeom prst="rect">
            <a:avLst/>
          </a:prstGeom>
          <a:noFill/>
        </p:spPr>
        <p:txBody>
          <a:bodyPr wrap="square" lIns="0" tIns="0" rIns="0" bIns="0">
            <a:spAutoFit/>
          </a:bodyPr>
          <a:lstStyle/>
          <a:p>
            <a:pPr>
              <a:spcBef>
                <a:spcPts val="0"/>
              </a:spcBef>
              <a:spcAft>
                <a:spcPts val="600"/>
              </a:spcAft>
              <a:defRPr sz="1300" b="1">
                <a:solidFill>
                  <a:srgbClr val="102C57"/>
                </a:solidFill>
                <a:latin typeface="Segoe UI"/>
              </a:defRPr>
            </a:pPr>
            <a:r>
              <a:t>Key Scientific &amp; Operational Contributions</a:t>
            </a:r>
          </a:p>
          <a:p>
            <a:pPr>
              <a:spcBef>
                <a:spcPts val="0"/>
              </a:spcBef>
              <a:spcAft>
                <a:spcPts val="200"/>
              </a:spcAft>
              <a:defRPr sz="1100" b="1">
                <a:solidFill>
                  <a:srgbClr val="184C78"/>
                </a:solidFill>
                <a:latin typeface="Segoe UI"/>
              </a:defRPr>
            </a:pPr>
            <a:r>
              <a:t>1. Discrete Cuts vs. Manifold Smoothing:</a:t>
            </a:r>
          </a:p>
          <a:p>
            <a:pPr>
              <a:spcBef>
                <a:spcPts val="0"/>
              </a:spcBef>
              <a:spcAft>
                <a:spcPts val="500"/>
              </a:spcAft>
              <a:defRPr sz="1000" b="0">
                <a:solidFill>
                  <a:srgbClr val="212529"/>
                </a:solidFill>
                <a:latin typeface="Segoe UI"/>
              </a:defRPr>
            </a:pPr>
            <a:r>
              <a:t>Cheeger bisections on hypergraph Laplacians provably eliminate context leakage (P_leak ≤ √(2τ_pivot)), avoiding the exponential smoothing lag of Riemannian manifolds.</a:t>
            </a:r>
          </a:p>
          <a:p>
            <a:pPr>
              <a:spcBef>
                <a:spcPts val="0"/>
              </a:spcBef>
              <a:spcAft>
                <a:spcPts val="200"/>
              </a:spcAft>
              <a:defRPr sz="1100" b="1">
                <a:solidFill>
                  <a:srgbClr val="184C78"/>
                </a:solidFill>
                <a:latin typeface="Segoe UI"/>
              </a:defRPr>
            </a:pPr>
            <a:r>
              <a:t>2. Continuous Waveform State-Spaces:</a:t>
            </a:r>
          </a:p>
          <a:p>
            <a:pPr>
              <a:spcBef>
                <a:spcPts val="0"/>
              </a:spcBef>
              <a:spcAft>
                <a:spcPts val="500"/>
              </a:spcAft>
              <a:defRPr sz="1000" b="0">
                <a:solidFill>
                  <a:srgbClr val="212529"/>
                </a:solidFill>
                <a:latin typeface="Segoe UI"/>
              </a:defRPr>
            </a:pPr>
            <a:r>
              <a:t>Unifies continuous 125 Hz telemetry via linear state-space Mamba-2 with discrete EHR text into polyadic hyperedges.</a:t>
            </a:r>
          </a:p>
          <a:p>
            <a:pPr>
              <a:spcBef>
                <a:spcPts val="0"/>
              </a:spcBef>
              <a:spcAft>
                <a:spcPts val="200"/>
              </a:spcAft>
              <a:defRPr sz="1100" b="1">
                <a:solidFill>
                  <a:srgbClr val="184C78"/>
                </a:solidFill>
                <a:latin typeface="Segoe UI"/>
              </a:defRPr>
            </a:pPr>
            <a:r>
              <a:t>3. Cognitive-Bounded Active Prefetching:</a:t>
            </a:r>
          </a:p>
          <a:p>
            <a:pPr>
              <a:spcBef>
                <a:spcPts val="0"/>
              </a:spcBef>
              <a:spcAft>
                <a:spcPts val="500"/>
              </a:spcAft>
              <a:defRPr sz="1000" b="0">
                <a:solidFill>
                  <a:srgbClr val="212529"/>
                </a:solidFill>
                <a:latin typeface="Segoe UI"/>
              </a:defRPr>
            </a:pPr>
            <a:r>
              <a:t>Formulates chart staging as a 0/1 knapsack bounded by Sweller surprisal limits (Cmax ≤ 7.0 bits), curbing alert fatigue.</a:t>
            </a:r>
          </a:p>
          <a:p>
            <a:pPr>
              <a:spcBef>
                <a:spcPts val="0"/>
              </a:spcBef>
              <a:spcAft>
                <a:spcPts val="200"/>
              </a:spcAft>
              <a:defRPr sz="1100" b="1">
                <a:solidFill>
                  <a:srgbClr val="184C78"/>
                </a:solidFill>
                <a:latin typeface="Segoe UI"/>
              </a:defRPr>
            </a:pPr>
            <a:r>
              <a:t>4. Micro-to-Macro Queueing Leverage:</a:t>
            </a:r>
          </a:p>
          <a:p>
            <a:pPr>
              <a:spcBef>
                <a:spcPts val="0"/>
              </a:spcBef>
              <a:spcAft>
                <a:spcPts val="0"/>
              </a:spcAft>
              <a:defRPr sz="1000" b="0">
                <a:solidFill>
                  <a:srgbClr val="212529"/>
                </a:solidFill>
                <a:latin typeface="Segoe UI"/>
              </a:defRPr>
            </a:pPr>
            <a:r>
              <a:t>Proves super-linear delay leverage O((1-ρ)^-2) in congested EDs, translating 25.6s search gains into 12.3-min wait reductions.</a:t>
            </a:r>
          </a:p>
        </p:txBody>
      </p:sp>
      <p:sp>
        <p:nvSpPr>
          <p:cNvPr id="7" name="Rounded Rectangle 6"/>
          <p:cNvSpPr/>
          <p:nvPr/>
        </p:nvSpPr>
        <p:spPr>
          <a:xfrm>
            <a:off x="6245352" y="2267712"/>
            <a:ext cx="539496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2450592"/>
            <a:ext cx="5029200" cy="3794760"/>
          </a:xfrm>
          <a:prstGeom prst="rect">
            <a:avLst/>
          </a:prstGeom>
          <a:noFill/>
        </p:spPr>
        <p:txBody>
          <a:bodyPr wrap="square" lIns="0" tIns="0" rIns="0" bIns="0">
            <a:spAutoFit/>
          </a:bodyPr>
          <a:lstStyle/>
          <a:p>
            <a:pPr>
              <a:spcBef>
                <a:spcPts val="0"/>
              </a:spcBef>
              <a:spcAft>
                <a:spcPts val="600"/>
              </a:spcAft>
              <a:defRPr sz="1300" b="1">
                <a:solidFill>
                  <a:srgbClr val="146C43"/>
                </a:solidFill>
                <a:latin typeface="Segoe UI"/>
              </a:defRPr>
            </a:pPr>
            <a:r>
              <a:t>Translational Roadmap &amp; Future Horizons</a:t>
            </a:r>
          </a:p>
          <a:p>
            <a:pPr>
              <a:spcBef>
                <a:spcPts val="0"/>
              </a:spcBef>
              <a:spcAft>
                <a:spcPts val="200"/>
              </a:spcAft>
              <a:defRPr sz="1100" b="1">
                <a:solidFill>
                  <a:srgbClr val="146C43"/>
                </a:solidFill>
                <a:latin typeface="Segoe UI"/>
              </a:defRPr>
            </a:pPr>
            <a:r>
              <a:t>1. SMART-on-FHIR Sidecar Integration:</a:t>
            </a:r>
          </a:p>
          <a:p>
            <a:pPr>
              <a:spcBef>
                <a:spcPts val="0"/>
              </a:spcBef>
              <a:spcAft>
                <a:spcPts val="500"/>
              </a:spcAft>
              <a:defRPr sz="1000" b="0">
                <a:solidFill>
                  <a:srgbClr val="212529"/>
                </a:solidFill>
                <a:latin typeface="Segoe UI"/>
              </a:defRPr>
            </a:pPr>
            <a:r>
              <a:t>Packaging as lightweight microservices connecting to commercial EHRs (Epic/Cerner) via CDS Hooks with sub-15ms Redis caches.</a:t>
            </a:r>
          </a:p>
          <a:p>
            <a:pPr>
              <a:spcBef>
                <a:spcPts val="0"/>
              </a:spcBef>
              <a:spcAft>
                <a:spcPts val="200"/>
              </a:spcAft>
              <a:defRPr sz="1100" b="1">
                <a:solidFill>
                  <a:srgbClr val="146C43"/>
                </a:solidFill>
                <a:latin typeface="Segoe UI"/>
              </a:defRPr>
            </a:pPr>
            <a:r>
              <a:t>2. Prospective Silent Shadow Trials:</a:t>
            </a:r>
          </a:p>
          <a:p>
            <a:pPr>
              <a:spcBef>
                <a:spcPts val="0"/>
              </a:spcBef>
              <a:spcAft>
                <a:spcPts val="500"/>
              </a:spcAft>
              <a:defRPr sz="1000" b="0">
                <a:solidFill>
                  <a:srgbClr val="212529"/>
                </a:solidFill>
                <a:latin typeface="Segoe UI"/>
              </a:defRPr>
            </a:pPr>
            <a:r>
              <a:t>Live validation in regional Level-1 Trauma Emergency Departments to evaluate clinician ergonomics without altering care.</a:t>
            </a:r>
          </a:p>
          <a:p>
            <a:pPr>
              <a:spcBef>
                <a:spcPts val="0"/>
              </a:spcBef>
              <a:spcAft>
                <a:spcPts val="200"/>
              </a:spcAft>
              <a:defRPr sz="1100" b="1">
                <a:solidFill>
                  <a:srgbClr val="146C43"/>
                </a:solidFill>
                <a:latin typeface="Segoe UI"/>
              </a:defRPr>
            </a:pPr>
            <a:r>
              <a:t>3. Federated Multi-Facility Hypergraphs:</a:t>
            </a:r>
          </a:p>
          <a:p>
            <a:pPr>
              <a:spcBef>
                <a:spcPts val="0"/>
              </a:spcBef>
              <a:spcAft>
                <a:spcPts val="500"/>
              </a:spcAft>
              <a:defRPr sz="1000" b="0">
                <a:solidFill>
                  <a:srgbClr val="212529"/>
                </a:solidFill>
                <a:latin typeface="Segoe UI"/>
              </a:defRPr>
            </a:pPr>
            <a:r>
              <a:t>Extending spectral tracking to regional transfer networks with privacy-preserving federated spectral clustering.</a:t>
            </a:r>
          </a:p>
          <a:p>
            <a:pPr>
              <a:spcBef>
                <a:spcPts val="0"/>
              </a:spcBef>
              <a:spcAft>
                <a:spcPts val="200"/>
              </a:spcAft>
              <a:defRPr sz="1100" b="1">
                <a:solidFill>
                  <a:srgbClr val="146C43"/>
                </a:solidFill>
                <a:latin typeface="Segoe UI"/>
              </a:defRPr>
            </a:pPr>
            <a:r>
              <a:t>4. Human-in-the-Loop Safeguards:</a:t>
            </a:r>
          </a:p>
          <a:p>
            <a:pPr>
              <a:spcBef>
                <a:spcPts val="0"/>
              </a:spcBef>
              <a:spcAft>
                <a:spcPts val="0"/>
              </a:spcAft>
              <a:defRPr sz="1000" b="0">
                <a:solidFill>
                  <a:srgbClr val="212529"/>
                </a:solidFill>
                <a:latin typeface="Segoe UI"/>
              </a:defRPr>
            </a:pPr>
            <a:r>
              <a:t>Pruned context branches remain one-click restorable in a sidecar drawer, ensuring full clinician auditability and agency.</a:t>
            </a:r>
          </a:p>
        </p:txBody>
      </p:sp>
    </p:spTree>
    <p:extLst>
      <p:ext uri="{BB962C8B-B14F-4D97-AF65-F5344CB8AC3E}">
        <p14:creationId xmlns:p14="http://schemas.microsoft.com/office/powerpoint/2010/main" val="1184327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3FE221-B761-F5CB-43B3-547BBA1DA3C6}"/>
              </a:ext>
            </a:extLst>
          </p:cNvPr>
          <p:cNvPicPr>
            <a:picLocks noChangeAspect="1"/>
          </p:cNvPicPr>
          <p:nvPr/>
        </p:nvPicPr>
        <p:blipFill rotWithShape="1">
          <a:blip r:embed="rId2">
            <a:extLst>
              <a:ext uri="{28A0092B-C50C-407E-A947-70E740481C1C}">
                <a14:useLocalDpi xmlns:a14="http://schemas.microsoft.com/office/drawing/2010/main" val="0"/>
              </a:ext>
            </a:extLst>
          </a:blip>
          <a:srcRect r="11464"/>
          <a:stretch/>
        </p:blipFill>
        <p:spPr>
          <a:xfrm>
            <a:off x="0" y="0"/>
            <a:ext cx="12192000" cy="1479893"/>
          </a:xfrm>
          <a:prstGeom prst="rect">
            <a:avLst/>
          </a:prstGeom>
        </p:spPr>
      </p:pic>
      <p:sp>
        <p:nvSpPr>
          <p:cNvPr id="3" name="TextBox 2"/>
          <p:cNvSpPr txBox="1"/>
          <p:nvPr/>
        </p:nvSpPr>
        <p:spPr>
          <a:xfrm>
            <a:off x="548640" y="1536192"/>
            <a:ext cx="11091672" cy="548640"/>
          </a:xfrm>
          <a:prstGeom prst="rect">
            <a:avLst/>
          </a:prstGeom>
          <a:noFill/>
        </p:spPr>
        <p:txBody>
          <a:bodyPr wrap="square" lIns="0" tIns="0" rIns="0" bIns="0">
            <a:spAutoFit/>
          </a:bodyPr>
          <a:lstStyle/>
          <a:p>
            <a:pPr>
              <a:spcAft>
                <a:spcPts val="200"/>
              </a:spcAft>
              <a:defRPr sz="950" b="1">
                <a:solidFill>
                  <a:srgbClr val="184C78"/>
                </a:solidFill>
                <a:latin typeface="Segoe UI"/>
              </a:defRPr>
            </a:pPr>
            <a:r>
              <a:t>BIBLIOGRAPHIC CITATIONS</a:t>
            </a:r>
          </a:p>
          <a:p>
            <a:pPr>
              <a:defRPr sz="2000" b="1">
                <a:solidFill>
                  <a:srgbClr val="102C57"/>
                </a:solidFill>
                <a:latin typeface="Segoe UI"/>
              </a:defRPr>
            </a:pPr>
            <a:r>
              <a:t>10. REFERENCES: Core Literature Citations</a:t>
            </a:r>
          </a:p>
        </p:txBody>
      </p:sp>
      <p:sp>
        <p:nvSpPr>
          <p:cNvPr id="4" name="Rectangle 3"/>
          <p:cNvSpPr/>
          <p:nvPr/>
        </p:nvSpPr>
        <p:spPr>
          <a:xfrm>
            <a:off x="548640" y="2121408"/>
            <a:ext cx="11091672" cy="18288"/>
          </a:xfrm>
          <a:prstGeom prst="rect">
            <a:avLst/>
          </a:prstGeom>
          <a:solidFill>
            <a:srgbClr val="D7E2EE"/>
          </a:solidFill>
          <a:ln>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267712"/>
            <a:ext cx="539496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23160"/>
            <a:ext cx="5029200" cy="3840480"/>
          </a:xfrm>
          <a:prstGeom prst="rect">
            <a:avLst/>
          </a:prstGeom>
          <a:noFill/>
        </p:spPr>
        <p:txBody>
          <a:bodyPr wrap="square" lIns="0" tIns="0" rIns="0" bIns="0">
            <a:spAutoFit/>
          </a:bodyPr>
          <a:lstStyle/>
          <a:p>
            <a:pPr>
              <a:spcBef>
                <a:spcPts val="0"/>
              </a:spcBef>
              <a:spcAft>
                <a:spcPts val="100"/>
              </a:spcAft>
              <a:defRPr sz="1050" b="1">
                <a:solidFill>
                  <a:srgbClr val="102C57"/>
                </a:solidFill>
                <a:latin typeface="Segoe UI"/>
              </a:defRPr>
            </a:pPr>
            <a:r>
              <a:t>Baeza-Yates, R., &amp; Ribeiro-Neto, B. (1999).</a:t>
            </a:r>
          </a:p>
          <a:p>
            <a:pPr>
              <a:spcBef>
                <a:spcPts val="0"/>
              </a:spcBef>
              <a:spcAft>
                <a:spcPts val="800"/>
              </a:spcAft>
              <a:defRPr sz="950" b="0">
                <a:solidFill>
                  <a:srgbClr val="212529"/>
                </a:solidFill>
                <a:latin typeface="Segoe UI"/>
              </a:defRPr>
            </a:pPr>
            <a:r>
              <a:t>Modern Information Retrieval. ACM Press / Addison-Wesley.</a:t>
            </a:r>
          </a:p>
          <a:p>
            <a:pPr>
              <a:spcBef>
                <a:spcPts val="0"/>
              </a:spcBef>
              <a:spcAft>
                <a:spcPts val="100"/>
              </a:spcAft>
              <a:defRPr sz="1050" b="1">
                <a:solidFill>
                  <a:srgbClr val="102C57"/>
                </a:solidFill>
                <a:latin typeface="Segoe UI"/>
              </a:defRPr>
            </a:pPr>
            <a:r>
              <a:t>Chung, F. R. (1997).</a:t>
            </a:r>
          </a:p>
          <a:p>
            <a:pPr>
              <a:spcBef>
                <a:spcPts val="0"/>
              </a:spcBef>
              <a:spcAft>
                <a:spcPts val="800"/>
              </a:spcAft>
              <a:defRPr sz="950" b="0">
                <a:solidFill>
                  <a:srgbClr val="212529"/>
                </a:solidFill>
                <a:latin typeface="Segoe UI"/>
              </a:defRPr>
            </a:pPr>
            <a:r>
              <a:t>Spectral Graph Theory. CBMS Regional Conference Series in Mathematics, American Mathematical Society, Vol. 92.</a:t>
            </a:r>
          </a:p>
          <a:p>
            <a:pPr>
              <a:spcBef>
                <a:spcPts val="0"/>
              </a:spcBef>
              <a:spcAft>
                <a:spcPts val="100"/>
              </a:spcAft>
              <a:defRPr sz="1050" b="1">
                <a:solidFill>
                  <a:srgbClr val="102C57"/>
                </a:solidFill>
                <a:latin typeface="Segoe UI"/>
              </a:defRPr>
            </a:pPr>
            <a:r>
              <a:t>Gu, A., &amp; Dao, T. (2024).</a:t>
            </a:r>
          </a:p>
          <a:p>
            <a:pPr>
              <a:spcBef>
                <a:spcPts val="0"/>
              </a:spcBef>
              <a:spcAft>
                <a:spcPts val="800"/>
              </a:spcAft>
              <a:defRPr sz="950" b="0">
                <a:solidFill>
                  <a:srgbClr val="212529"/>
                </a:solidFill>
                <a:latin typeface="Segoe UI"/>
              </a:defRPr>
            </a:pPr>
            <a:r>
              <a:t>Mamba: Linear-time sequence modeling with selective state spaces. arXiv preprint arXiv:2312.00752.</a:t>
            </a:r>
          </a:p>
          <a:p>
            <a:pPr>
              <a:spcBef>
                <a:spcPts val="0"/>
              </a:spcBef>
              <a:spcAft>
                <a:spcPts val="100"/>
              </a:spcAft>
              <a:defRPr sz="1050" b="1">
                <a:solidFill>
                  <a:srgbClr val="102C57"/>
                </a:solidFill>
                <a:latin typeface="Segoe UI"/>
              </a:defRPr>
            </a:pPr>
            <a:r>
              <a:t>Hyland, S. L., Faltys, M., Hüser, M., Lyu, X., et al. (2020).</a:t>
            </a:r>
          </a:p>
          <a:p>
            <a:pPr>
              <a:spcBef>
                <a:spcPts val="0"/>
              </a:spcBef>
              <a:spcAft>
                <a:spcPts val="800"/>
              </a:spcAft>
              <a:defRPr sz="950" b="0">
                <a:solidFill>
                  <a:srgbClr val="212529"/>
                </a:solidFill>
                <a:latin typeface="Segoe UI"/>
              </a:defRPr>
            </a:pPr>
            <a:r>
              <a:t>Early prediction of circulatory failure in the intensive care unit using machine learning. Nature Medicine, 26(3), 364–373.</a:t>
            </a:r>
          </a:p>
          <a:p>
            <a:pPr>
              <a:spcBef>
                <a:spcPts val="0"/>
              </a:spcBef>
              <a:spcAft>
                <a:spcPts val="100"/>
              </a:spcAft>
              <a:defRPr sz="1050" b="1">
                <a:solidFill>
                  <a:srgbClr val="102C57"/>
                </a:solidFill>
                <a:latin typeface="Segoe UI"/>
              </a:defRPr>
            </a:pPr>
            <a:r>
              <a:t>Jiang, P., et al. (2024).</a:t>
            </a:r>
          </a:p>
          <a:p>
            <a:pPr>
              <a:spcBef>
                <a:spcPts val="0"/>
              </a:spcBef>
              <a:spcAft>
                <a:spcPts val="800"/>
              </a:spcAft>
              <a:defRPr sz="950" b="0">
                <a:solidFill>
                  <a:srgbClr val="212529"/>
                </a:solidFill>
                <a:latin typeface="Segoe UI"/>
              </a:defRPr>
            </a:pPr>
            <a:r>
              <a:t>GraphCare: Healthcare predictive modeling with knowledge graphs. In Proceedings of the ACM Web Conference (WWW 2024).</a:t>
            </a:r>
          </a:p>
        </p:txBody>
      </p:sp>
      <p:sp>
        <p:nvSpPr>
          <p:cNvPr id="7" name="Rounded Rectangle 6"/>
          <p:cNvSpPr/>
          <p:nvPr/>
        </p:nvSpPr>
        <p:spPr>
          <a:xfrm>
            <a:off x="6245352" y="2267712"/>
            <a:ext cx="5394960" cy="4160520"/>
          </a:xfrm>
          <a:prstGeom prst="roundRect">
            <a:avLst/>
          </a:prstGeom>
          <a:solidFill>
            <a:srgbClr val="F8FAFD"/>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2423160"/>
            <a:ext cx="5029200" cy="3840480"/>
          </a:xfrm>
          <a:prstGeom prst="rect">
            <a:avLst/>
          </a:prstGeom>
          <a:noFill/>
        </p:spPr>
        <p:txBody>
          <a:bodyPr wrap="square" lIns="0" tIns="0" rIns="0" bIns="0">
            <a:spAutoFit/>
          </a:bodyPr>
          <a:lstStyle/>
          <a:p>
            <a:pPr>
              <a:spcBef>
                <a:spcPts val="0"/>
              </a:spcBef>
              <a:spcAft>
                <a:spcPts val="100"/>
              </a:spcAft>
              <a:defRPr sz="1050" b="1">
                <a:solidFill>
                  <a:srgbClr val="102C57"/>
                </a:solidFill>
                <a:latin typeface="Segoe UI"/>
              </a:defRPr>
            </a:pPr>
            <a:r>
              <a:t>Jin, Q., Kim, S., Chen, Q., et al. (2023).</a:t>
            </a:r>
          </a:p>
          <a:p>
            <a:pPr>
              <a:spcBef>
                <a:spcPts val="0"/>
              </a:spcBef>
              <a:spcAft>
                <a:spcPts val="800"/>
              </a:spcAft>
              <a:defRPr sz="950" b="0">
                <a:solidFill>
                  <a:srgbClr val="212529"/>
                </a:solidFill>
                <a:latin typeface="Segoe UI"/>
              </a:defRPr>
            </a:pPr>
            <a:r>
              <a:t>MedCPT: Contrastive pre-trained biomedical dual-encoders for search. Bioinformatics, 39(11), btad651.</a:t>
            </a:r>
          </a:p>
          <a:p>
            <a:pPr>
              <a:spcBef>
                <a:spcPts val="0"/>
              </a:spcBef>
              <a:spcAft>
                <a:spcPts val="100"/>
              </a:spcAft>
              <a:defRPr sz="1050" b="1">
                <a:solidFill>
                  <a:srgbClr val="102C57"/>
                </a:solidFill>
                <a:latin typeface="Segoe UI"/>
              </a:defRPr>
            </a:pPr>
            <a:r>
              <a:t>Johnson, A. E., Bulgarelli, L., Shen, L., et al. (2023).</a:t>
            </a:r>
          </a:p>
          <a:p>
            <a:pPr>
              <a:spcBef>
                <a:spcPts val="0"/>
              </a:spcBef>
              <a:spcAft>
                <a:spcPts val="800"/>
              </a:spcAft>
              <a:defRPr sz="950" b="0">
                <a:solidFill>
                  <a:srgbClr val="212529"/>
                </a:solidFill>
                <a:latin typeface="Segoe UI"/>
              </a:defRPr>
            </a:pPr>
            <a:r>
              <a:t>MIMIC-IV, a freely accessible electronic health record dataset. Scientific Data, 10(1), 1.</a:t>
            </a:r>
          </a:p>
          <a:p>
            <a:pPr>
              <a:spcBef>
                <a:spcPts val="0"/>
              </a:spcBef>
              <a:spcAft>
                <a:spcPts val="100"/>
              </a:spcAft>
              <a:defRPr sz="1050" b="1">
                <a:solidFill>
                  <a:srgbClr val="102C57"/>
                </a:solidFill>
                <a:latin typeface="Segoe UI"/>
              </a:defRPr>
            </a:pPr>
            <a:r>
              <a:t>Santhanam, K., Khattab, O., Saad-Falcon, J., et al. (2022).</a:t>
            </a:r>
          </a:p>
          <a:p>
            <a:pPr>
              <a:spcBef>
                <a:spcPts val="0"/>
              </a:spcBef>
              <a:spcAft>
                <a:spcPts val="800"/>
              </a:spcAft>
              <a:defRPr sz="950" b="0">
                <a:solidFill>
                  <a:srgbClr val="212529"/>
                </a:solidFill>
                <a:latin typeface="Segoe UI"/>
              </a:defRPr>
            </a:pPr>
            <a:r>
              <a:t>ColBERTv2: Effective and efficient retrieval via lightweight late interaction. In NAACL-HLT 2022.</a:t>
            </a:r>
          </a:p>
          <a:p>
            <a:pPr>
              <a:spcBef>
                <a:spcPts val="0"/>
              </a:spcBef>
              <a:spcAft>
                <a:spcPts val="100"/>
              </a:spcAft>
              <a:defRPr sz="1050" b="1">
                <a:solidFill>
                  <a:srgbClr val="102C57"/>
                </a:solidFill>
                <a:latin typeface="Segoe UI"/>
              </a:defRPr>
            </a:pPr>
            <a:r>
              <a:t>Sweller, J. (1988).</a:t>
            </a:r>
          </a:p>
          <a:p>
            <a:pPr>
              <a:spcBef>
                <a:spcPts val="0"/>
              </a:spcBef>
              <a:spcAft>
                <a:spcPts val="800"/>
              </a:spcAft>
              <a:defRPr sz="950" b="0">
                <a:solidFill>
                  <a:srgbClr val="212529"/>
                </a:solidFill>
                <a:latin typeface="Segoe UI"/>
              </a:defRPr>
            </a:pPr>
            <a:r>
              <a:t>Cognitive load during problem solving: Effects on learning. Cognitive Science, 12(2), 257–285.</a:t>
            </a:r>
          </a:p>
          <a:p>
            <a:pPr>
              <a:spcBef>
                <a:spcPts val="0"/>
              </a:spcBef>
              <a:spcAft>
                <a:spcPts val="100"/>
              </a:spcAft>
              <a:defRPr sz="1050" b="1">
                <a:solidFill>
                  <a:srgbClr val="102C57"/>
                </a:solidFill>
                <a:latin typeface="Segoe UI"/>
              </a:defRPr>
            </a:pPr>
            <a:r>
              <a:t>Zhou, D., Huang, J., &amp; Schölkopf, B. (2006).</a:t>
            </a:r>
          </a:p>
          <a:p>
            <a:pPr>
              <a:spcBef>
                <a:spcPts val="0"/>
              </a:spcBef>
              <a:spcAft>
                <a:spcPts val="800"/>
              </a:spcAft>
              <a:defRPr sz="950" b="0">
                <a:solidFill>
                  <a:srgbClr val="212529"/>
                </a:solidFill>
                <a:latin typeface="Segoe UI"/>
              </a:defRPr>
            </a:pPr>
            <a:r>
              <a:t>Learning with hypergraphs: Clustering and classification. In Advances in Neural Information Processing Systems (NeurIPS 2006).</a:t>
            </a:r>
          </a:p>
        </p:txBody>
      </p:sp>
    </p:spTree>
    <p:extLst>
      <p:ext uri="{BB962C8B-B14F-4D97-AF65-F5344CB8AC3E}">
        <p14:creationId xmlns:p14="http://schemas.microsoft.com/office/powerpoint/2010/main" val="3254195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TotalTime>
  <Words>116</Words>
  <Application>Microsoft Macintosh PowerPoint</Application>
  <PresentationFormat>Widescreen</PresentationFormat>
  <Paragraphs>39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MOOLCHAND SHARMA</dc:creator>
  <cp:lastModifiedBy>Deepak Gupta</cp:lastModifiedBy>
  <cp:revision>24</cp:revision>
  <dcterms:created xsi:type="dcterms:W3CDTF">2021-02-05T14:09:33Z</dcterms:created>
  <dcterms:modified xsi:type="dcterms:W3CDTF">2026-10-02T09:59:58Z</dcterms:modified>
</cp:coreProperties>
</file>